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0:00-0:12. Добрый день. Представляю целостную методическую разработку «Тьюринг под лупой» для подготовки одиннадцатиклассников к заданию 12 КЕГЭ. Она включает сценарий двух уроков, материалы ученика, диагностику и оценивание.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0:12-0:32. Это два урока по 45 минут на стыке информатики и математики. Ученики работают командами и создают диагностический маршрут. Другая команда должна применить его к новой задаче без пояснений авторов.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0:32-1:00. Проблема возникает, когда полная трассировка превращается из учебной опоры в единственный способ решения. На длинной ленте ученик тратит время и накапливает ошибки. По одному ответу учителю трудно понять, увидел ли ученик закономерность. Поэтому занятие учит осознанно выбирать стратегию.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1:00-1:27. Разработка состоит из связанных материалов. Комплект учителя задаёт ход занятия. Проектный кейс ставит задачу, рабочий лист собирает данные, тренажёр помогает наблюдать и проверять гипотезы. Затем команда оформляет диагностический маршрут, а КИМы и рубрикатор проверяют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1:27-2:02. Пять спринтов опираются на конкретные материалы. Входной КИМ фиксирует исходную стратегию. Рабочий лист хранит данные трёх попыток и проверку закономерности. Затем команда переносит выводы в шаблон маршрута и передаёт продукт другой команде. Рубрикатор делает обратную связь проверяемой.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2:02-2:34. Итоговый продукт появляется не в тренажёре. Проектный кейс задаёт задачу, рабочий лист собирает доказательства, а шаблон помогает оформить маршрут. После независимой проверки команда исправляет неоднозначности. Тренажёр используется внутри этого процесса для наблюдения шага и проверки гипотезы.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2:34-2:58. Оценивание разделяет индивидуальное освоение и качество командного продукта. Входной тест фиксирует исходный уровень. Практический кейс проверяет диагностику ошибок. Итоговая задача выполняется без подсказок, а маршрут получает отдельную оценку по пяти критериям. Проценты на слайде являются ориентирами первого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2:58-3:20. Учитель получает не набор разрозненных файлов, а готовую систему. Комплект учителя связывает проектное задание, рабочий лист, шаблон маршрута, КИМы и рубрикатор. Занятие можно провести с онлайн-тренажёром, автономным HTML-файлом или полностью по печатным материалам.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3:20-3:28. В результате подготовлен воспроизводимый комплект двух уроков с ученическим продуктом, диагностикой и оцениванием.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918F1466-6A06-4BB5-BDB6-75C3DEA29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F18DA77B-2C38-4D4E-889A-DC9CE6811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rmAutofit/>
          </a:bodyPr>
          <a:lstStyle>
            <a:lvl1pPr marL="457200" marR="0" indent="-32004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  <a:defRPr sz="32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4290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−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285750" algn="l"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23850" algn="l"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8575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8pPr>
            <a:lvl9pPr marL="4114800" marR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hyperlink" Target="https://clck.ru/3Vv6Es" TargetMode="Externa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3;p3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575B7277-0D8E-4BCE-9D3A-5A0A42246452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D9D9DE"/>
                </a:solidFill>
                <a:latin typeface="Arial"/>
                <a:ea typeface="Arial"/>
                <a:cs typeface="Arial"/>
              </a:defRPr>
            </a:pPr>
            <a:r>
              <a:rPr sz="1400" b="0" i="0" u="none" cap="none">
                <a:solidFill>
                  <a:srgbClr val="D9D9DE"/>
                </a:solidFill>
                <a:latin typeface="Arial"/>
                <a:ea typeface="Arial"/>
                <a:cs typeface="Arial"/>
              </a:rPr>
              <a:t>01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475F0AC0-E0E5-4084-B7DB-1508168A0C22}"/>
              </a:ext>
            </a:extLst>
          </p:cNvPr>
          <p:cNvSpPr>
            <a:spLocks noGrp="1"/>
          </p:cNvSpPr>
          <p:nvPr/>
        </p:nvSpPr>
        <p:spPr>
          <a:xfrm>
            <a:off x="640080" y="1749960"/>
            <a:ext cx="10972080" cy="13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650" b="1">
                <a:solidFill>
                  <a:srgbClr val="0F0F0F"/>
                </a:solidFill>
                <a:latin typeface="Arial"/>
                <a:ea typeface="Arial"/>
                <a:cs typeface="Arial"/>
              </a:defRPr>
            </a:pPr>
            <a:r>
              <a:rPr sz="4650" b="1" i="0" u="none" cap="none">
                <a:solidFill>
                  <a:srgbClr val="0F0F0F"/>
                </a:solidFill>
                <a:latin typeface="Arial"/>
                <a:ea typeface="Arial"/>
                <a:cs typeface="Arial"/>
              </a:rPr>
              <a:t>«Тьюринг под лупой»</a:t>
            </a:r>
            <a:endParaRPr sz="40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EB48F6F-4954-4253-821B-8318186073D3}"/>
              </a:ext>
            </a:extLst>
          </p:cNvPr>
          <p:cNvSpPr>
            <a:spLocks noGrp="1"/>
          </p:cNvSpPr>
          <p:nvPr/>
        </p:nvSpPr>
        <p:spPr>
          <a:xfrm>
            <a:off x="742950" y="3190875"/>
            <a:ext cx="1000125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buNone/>
              <a:defRPr sz="225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55555C"/>
                </a:solidFill>
                <a:latin typeface="Arial"/>
                <a:ea typeface="Arial"/>
                <a:cs typeface="Arial"/>
              </a:rPr>
              <a:t>Методическая разработка двух уроков для 11 класса</a:t>
            </a:r>
          </a:p>
          <a:p>
            <a:pPr>
              <a:buNone/>
              <a:defRPr sz="225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55555C"/>
                </a:solidFill>
                <a:latin typeface="Arial"/>
                <a:ea typeface="Arial"/>
                <a:cs typeface="Arial"/>
              </a:rPr>
              <a:t>Диагностический маршрут, КИМы и комплект учителя</a:t>
            </a:r>
          </a:p>
        </p:txBody>
      </p:sp>
    </p:spTree>
    <p:extLst>
      <p:ext uri="{BB962C8B-B14F-4D97-AF65-F5344CB8AC3E}">
        <p14:creationId xmlns:p14="http://schemas.microsoft.com/office/powerpoint/2010/main" val="157076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51;p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52" name="Google Shape;52;p5">
            <a:extLst>
              <a:ext uri="{FF2B5EF4-FFF2-40B4-BE49-F238E27FC236}">
                <a16:creationId xmlns:a16="http://schemas.microsoft.com/office/drawing/2014/main" id="{9DDFD32E-80FA-4486-A1D7-9B8474FE3BF9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D9D9DE"/>
                </a:solidFill>
                <a:latin typeface="Arial"/>
                <a:ea typeface="Arial"/>
                <a:cs typeface="Arial"/>
              </a:defRPr>
            </a:pPr>
            <a:r>
              <a:rPr sz="1400" b="0" i="0" u="none" cap="none">
                <a:solidFill>
                  <a:srgbClr val="D9D9DE"/>
                </a:solidFill>
                <a:latin typeface="Arial"/>
                <a:ea typeface="Arial"/>
                <a:cs typeface="Arial"/>
              </a:rPr>
              <a:t>02</a:t>
            </a:r>
            <a:endParaRPr sz="11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3" name="Google Shape;53;p5">
            <a:extLst>
              <a:ext uri="{FF2B5EF4-FFF2-40B4-BE49-F238E27FC236}">
                <a16:creationId xmlns:a16="http://schemas.microsoft.com/office/drawing/2014/main" id="{7722C835-C66C-4D46-9199-00A1E5BDBC32}"/>
              </a:ext>
            </a:extLst>
          </p:cNvPr>
          <p:cNvSpPr>
            <a:spLocks noGrp="1"/>
          </p:cNvSpPr>
          <p:nvPr/>
        </p:nvSpPr>
        <p:spPr>
          <a:xfrm>
            <a:off x="640080" y="1130040"/>
            <a:ext cx="499680" cy="499680"/>
          </a:xfrm>
          <a:prstGeom prst="ellipse">
            <a:avLst/>
          </a:prstGeom>
          <a:solidFill>
            <a:srgbClr val="7BC83E"/>
          </a:solidFill>
          <a:ln>
            <a:noFill/>
          </a:ln>
        </p:spPr>
        <p:txBody>
          <a:bodyPr spcFirstLastPara="1" wrap="square" lIns="0" tIns="0" rIns="0" bIns="0" anchor="ctr">
            <a:norm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 i="0" u="none" cap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  <a:endParaRPr sz="17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Google Shape;54;p5">
            <a:extLst>
              <a:ext uri="{FF2B5EF4-FFF2-40B4-BE49-F238E27FC236}">
                <a16:creationId xmlns:a16="http://schemas.microsoft.com/office/drawing/2014/main" id="{70A4964A-C463-4AAA-9C9C-211533263A08}"/>
              </a:ext>
            </a:extLst>
          </p:cNvPr>
          <p:cNvSpPr>
            <a:spLocks noGrp="1"/>
          </p:cNvSpPr>
          <p:nvPr/>
        </p:nvSpPr>
        <p:spPr>
          <a:xfrm>
            <a:off x="1280160" y="1130040"/>
            <a:ext cx="799956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800" b="1" i="0" u="none" cap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Занятие в одном кадре</a:t>
            </a:r>
            <a:endParaRPr sz="28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Google Shape;55;p5">
            <a:extLst>
              <a:ext uri="{FF2B5EF4-FFF2-40B4-BE49-F238E27FC236}">
                <a16:creationId xmlns:a16="http://schemas.microsoft.com/office/drawing/2014/main" id="{8A2B3F71-17E5-4B7C-AC59-921300568917}"/>
              </a:ext>
            </a:extLst>
          </p:cNvPr>
          <p:cNvSpPr>
            <a:spLocks noGrp="1"/>
          </p:cNvSpPr>
          <p:nvPr/>
        </p:nvSpPr>
        <p:spPr>
          <a:xfrm>
            <a:off x="640080" y="1820160"/>
            <a:ext cx="10911600" cy="4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626268"/>
                </a:solidFill>
                <a:latin typeface="Arial"/>
                <a:ea typeface="Arial"/>
                <a:cs typeface="Arial"/>
              </a:defRPr>
            </a:pPr>
            <a:r>
              <a:rPr sz="1600" b="0" i="0" u="none" cap="none">
                <a:solidFill>
                  <a:srgbClr val="626268"/>
                </a:solidFill>
                <a:latin typeface="Arial"/>
                <a:ea typeface="Arial"/>
                <a:cs typeface="Arial"/>
              </a:rPr>
              <a:t>Информатика и математика. Два урока по 45 минут.</a:t>
            </a:r>
            <a:endParaRPr sz="145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6" name="Google Shape;56;p5">
            <a:extLst>
              <a:ext uri="{FF2B5EF4-FFF2-40B4-BE49-F238E27FC236}">
                <a16:creationId xmlns:a16="http://schemas.microsoft.com/office/drawing/2014/main" id="{0B524B89-7762-4EC4-8670-FFACC6CFED52}"/>
              </a:ext>
            </a:extLst>
          </p:cNvPr>
          <p:cNvSpPr>
            <a:spLocks noGrp="1"/>
          </p:cNvSpPr>
          <p:nvPr/>
        </p:nvSpPr>
        <p:spPr>
          <a:xfrm>
            <a:off x="640080" y="248004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>
              <a:ext uri="{FF2B5EF4-FFF2-40B4-BE49-F238E27FC236}">
                <a16:creationId xmlns:a16="http://schemas.microsoft.com/office/drawing/2014/main" id="{1889E89E-B3F2-4EFF-B6CB-4FF8F53125EA}"/>
              </a:ext>
            </a:extLst>
          </p:cNvPr>
          <p:cNvSpPr>
            <a:spLocks noGrp="1"/>
          </p:cNvSpPr>
          <p:nvPr/>
        </p:nvSpPr>
        <p:spPr>
          <a:xfrm>
            <a:off x="900000" y="2630160"/>
            <a:ext cx="103914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200" b="1" i="0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Когда трассировать, а когда рассуждать?</a:t>
            </a:r>
            <a:endParaRPr sz="15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">
            <a:extLst>
              <a:ext uri="{FF2B5EF4-FFF2-40B4-BE49-F238E27FC236}">
                <a16:creationId xmlns:a16="http://schemas.microsoft.com/office/drawing/2014/main" id="{7EADCD79-69FB-432D-853C-32245076393E}"/>
              </a:ext>
            </a:extLst>
          </p:cNvPr>
          <p:cNvSpPr>
            <a:spLocks noGrp="1"/>
          </p:cNvSpPr>
          <p:nvPr/>
        </p:nvSpPr>
        <p:spPr>
          <a:xfrm>
            <a:off x="6400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Предметы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Google Shape;59;p5">
            <a:extLst>
              <a:ext uri="{FF2B5EF4-FFF2-40B4-BE49-F238E27FC236}">
                <a16:creationId xmlns:a16="http://schemas.microsoft.com/office/drawing/2014/main" id="{F2AB7B67-D673-417F-A035-B09EF81B39F2}"/>
              </a:ext>
            </a:extLst>
          </p:cNvPr>
          <p:cNvSpPr>
            <a:spLocks noGrp="1"/>
          </p:cNvSpPr>
          <p:nvPr/>
        </p:nvSpPr>
        <p:spPr>
          <a:xfrm>
            <a:off x="6400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>
              <a:ext uri="{FF2B5EF4-FFF2-40B4-BE49-F238E27FC236}">
                <a16:creationId xmlns:a16="http://schemas.microsoft.com/office/drawing/2014/main" id="{9D4F9A76-7E71-4CB1-93BB-1227CD505EDA}"/>
              </a:ext>
            </a:extLst>
          </p:cNvPr>
          <p:cNvSpPr>
            <a:spLocks noGrp="1"/>
          </p:cNvSpPr>
          <p:nvPr/>
        </p:nvSpPr>
        <p:spPr>
          <a:xfrm>
            <a:off x="90000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Информатика + математика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1" name="Google Shape;61;p5">
            <a:extLst>
              <a:ext uri="{FF2B5EF4-FFF2-40B4-BE49-F238E27FC236}">
                <a16:creationId xmlns:a16="http://schemas.microsoft.com/office/drawing/2014/main" id="{15ACCE51-BB2B-467A-9A5B-593528918229}"/>
              </a:ext>
            </a:extLst>
          </p:cNvPr>
          <p:cNvSpPr>
            <a:spLocks noGrp="1"/>
          </p:cNvSpPr>
          <p:nvPr/>
        </p:nvSpPr>
        <p:spPr>
          <a:xfrm>
            <a:off x="43372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Класс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Google Shape;62;p5">
            <a:extLst>
              <a:ext uri="{FF2B5EF4-FFF2-40B4-BE49-F238E27FC236}">
                <a16:creationId xmlns:a16="http://schemas.microsoft.com/office/drawing/2014/main" id="{FFA481F2-5583-45FD-98F3-B1540F2EB1AD}"/>
              </a:ext>
            </a:extLst>
          </p:cNvPr>
          <p:cNvSpPr>
            <a:spLocks noGrp="1"/>
          </p:cNvSpPr>
          <p:nvPr/>
        </p:nvSpPr>
        <p:spPr>
          <a:xfrm>
            <a:off x="43372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3" name="Google Shape;63;p5">
            <a:extLst>
              <a:ext uri="{FF2B5EF4-FFF2-40B4-BE49-F238E27FC236}">
                <a16:creationId xmlns:a16="http://schemas.microsoft.com/office/drawing/2014/main" id="{429DCD54-639F-46F5-9C8A-04D6B31BF82E}"/>
              </a:ext>
            </a:extLst>
          </p:cNvPr>
          <p:cNvSpPr>
            <a:spLocks noGrp="1"/>
          </p:cNvSpPr>
          <p:nvPr/>
        </p:nvSpPr>
        <p:spPr>
          <a:xfrm>
            <a:off x="459720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11 класс, 16-18 лет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4" name="Google Shape;64;p5">
            <a:extLst>
              <a:ext uri="{FF2B5EF4-FFF2-40B4-BE49-F238E27FC236}">
                <a16:creationId xmlns:a16="http://schemas.microsoft.com/office/drawing/2014/main" id="{1AC6BE29-36AD-4803-809E-DA3ACA6E1413}"/>
              </a:ext>
            </a:extLst>
          </p:cNvPr>
          <p:cNvSpPr>
            <a:spLocks noGrp="1"/>
          </p:cNvSpPr>
          <p:nvPr/>
        </p:nvSpPr>
        <p:spPr>
          <a:xfrm>
            <a:off x="8034480" y="3750120"/>
            <a:ext cx="351684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Формат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5">
            <a:extLst>
              <a:ext uri="{FF2B5EF4-FFF2-40B4-BE49-F238E27FC236}">
                <a16:creationId xmlns:a16="http://schemas.microsoft.com/office/drawing/2014/main" id="{23E85E9D-72DA-4DDB-BCCE-19DFF760E35C}"/>
              </a:ext>
            </a:extLst>
          </p:cNvPr>
          <p:cNvSpPr>
            <a:spLocks noGrp="1"/>
          </p:cNvSpPr>
          <p:nvPr/>
        </p:nvSpPr>
        <p:spPr>
          <a:xfrm>
            <a:off x="8034480" y="4150080"/>
            <a:ext cx="3516840" cy="69948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 w="9525" cmpd="sng">
            <a:solidFill>
              <a:srgbClr val="D9D9D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Google Shape;66;p5">
            <a:extLst>
              <a:ext uri="{FF2B5EF4-FFF2-40B4-BE49-F238E27FC236}">
                <a16:creationId xmlns:a16="http://schemas.microsoft.com/office/drawing/2014/main" id="{13A4A6C5-1244-4704-A11D-A8BBC047495A}"/>
              </a:ext>
            </a:extLst>
          </p:cNvPr>
          <p:cNvSpPr>
            <a:spLocks noGrp="1"/>
          </p:cNvSpPr>
          <p:nvPr/>
        </p:nvSpPr>
        <p:spPr>
          <a:xfrm>
            <a:off x="8294760" y="4299840"/>
            <a:ext cx="2997000" cy="3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333333"/>
                </a:solidFill>
                <a:latin typeface="Arial"/>
                <a:ea typeface="Arial"/>
                <a:cs typeface="Arial"/>
              </a:rPr>
              <a:t>Команды 3-5 человек</a:t>
            </a:r>
            <a:endParaRPr sz="12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7" name="Google Shape;67;p5">
            <a:extLst>
              <a:ext uri="{FF2B5EF4-FFF2-40B4-BE49-F238E27FC236}">
                <a16:creationId xmlns:a16="http://schemas.microsoft.com/office/drawing/2014/main" id="{F494453E-85FC-40D8-B877-8601E174E47A}"/>
              </a:ext>
            </a:extLst>
          </p:cNvPr>
          <p:cNvSpPr>
            <a:spLocks noGrp="1"/>
          </p:cNvSpPr>
          <p:nvPr/>
        </p:nvSpPr>
        <p:spPr>
          <a:xfrm>
            <a:off x="640080" y="5349960"/>
            <a:ext cx="10911600" cy="1099800"/>
          </a:xfrm>
          <a:prstGeom prst="roundRect">
            <a:avLst>
              <a:gd name="adj" fmla="val 3000"/>
            </a:avLst>
          </a:prstGeom>
          <a:solidFill>
            <a:srgbClr val="F7F7F8"/>
          </a:solidFill>
          <a:ln>
            <a:noFill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5">
            <a:extLst>
              <a:ext uri="{FF2B5EF4-FFF2-40B4-BE49-F238E27FC236}">
                <a16:creationId xmlns:a16="http://schemas.microsoft.com/office/drawing/2014/main" id="{D54DFE03-6468-4230-93B4-DFABC5982CA9}"/>
              </a:ext>
            </a:extLst>
          </p:cNvPr>
          <p:cNvSpPr>
            <a:spLocks noGrp="1"/>
          </p:cNvSpPr>
          <p:nvPr/>
        </p:nvSpPr>
        <p:spPr>
          <a:xfrm>
            <a:off x="900000" y="5500080"/>
            <a:ext cx="10399680" cy="349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Результат занятия</a:t>
            </a:r>
            <a:endParaRPr sz="135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Google Shape;69;p5">
            <a:extLst>
              <a:ext uri="{FF2B5EF4-FFF2-40B4-BE49-F238E27FC236}">
                <a16:creationId xmlns:a16="http://schemas.microsoft.com/office/drawing/2014/main" id="{12DDE954-9DCE-469B-9A11-D5460B63E46B}"/>
              </a:ext>
            </a:extLst>
          </p:cNvPr>
          <p:cNvSpPr>
            <a:spLocks noGrp="1"/>
          </p:cNvSpPr>
          <p:nvPr/>
        </p:nvSpPr>
        <p:spPr>
          <a:xfrm>
            <a:off x="900000" y="5870160"/>
            <a:ext cx="1039968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i="0">
                <a:solidFill>
                  <a:srgbClr val="55555C"/>
                </a:solidFill>
                <a:latin typeface="Arial"/>
                <a:ea typeface="Arial"/>
                <a:cs typeface="Arial"/>
              </a:defRPr>
            </a:pPr>
            <a:r>
              <a:rPr sz="1400" b="0" i="0" u="none">
                <a:solidFill>
                  <a:srgbClr val="55555C"/>
                </a:solidFill>
                <a:latin typeface="Arial"/>
                <a:ea typeface="Arial"/>
                <a:cs typeface="Arial"/>
              </a:rPr>
              <a:t>Диагностический маршрут, который другая команда применяет без пояснений авторов</a:t>
            </a:r>
            <a:endParaRPr sz="13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1382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74;p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758160"/>
          </a:xfrm>
          <a:prstGeom prst="rect">
            <a:avLst/>
          </a:prstGeom>
          <a:ln>
            <a:noFill/>
          </a:ln>
        </p:spPr>
      </p:pic>
      <p:sp>
        <p:nvSpPr>
          <p:cNvPr id="75" name="Google Shape;75;p6">
            <a:extLst>
              <a:ext uri="{FF2B5EF4-FFF2-40B4-BE49-F238E27FC236}">
                <a16:creationId xmlns:a16="http://schemas.microsoft.com/office/drawing/2014/main" id="{F2A25D5A-0CEB-418B-8A31-7904BACCA5BD}"/>
              </a:ext>
            </a:extLst>
          </p:cNvPr>
          <p:cNvSpPr>
            <a:spLocks noGrp="1"/>
          </p:cNvSpPr>
          <p:nvPr/>
        </p:nvSpPr>
        <p:spPr>
          <a:xfrm>
            <a:off x="11338560" y="6446520"/>
            <a:ext cx="547920" cy="2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 fontScale="93552" lnSpcReduction="10000"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44444A"/>
                </a:solidFill>
                <a:latin typeface="Arial"/>
                <a:ea typeface="Arial"/>
                <a:cs typeface="Arial"/>
              </a:defRPr>
            </a:pPr>
            <a:r>
              <a:rPr sz="1400" b="0" u="none">
                <a:solidFill>
                  <a:srgbClr val="44444A"/>
                </a:solidFill>
                <a:latin typeface="Arial"/>
                <a:ea typeface="Arial"/>
                <a:cs typeface="Arial"/>
              </a:rPr>
              <a:t>03</a:t>
            </a:r>
            <a:endParaRPr sz="11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" name="Google Shape;76;p6">
            <a:extLst>
              <a:ext uri="{FF2B5EF4-FFF2-40B4-BE49-F238E27FC236}">
                <a16:creationId xmlns:a16="http://schemas.microsoft.com/office/drawing/2014/main" id="{B3367A95-27E4-4B65-9B18-EB1F9398CE7D}"/>
              </a:ext>
            </a:extLst>
          </p:cNvPr>
          <p:cNvSpPr>
            <a:spLocks noGrp="1"/>
          </p:cNvSpPr>
          <p:nvPr/>
        </p:nvSpPr>
        <p:spPr>
          <a:xfrm>
            <a:off x="640080" y="1130040"/>
            <a:ext cx="499680" cy="499680"/>
          </a:xfrm>
          <a:prstGeom prst="ellipse">
            <a:avLst/>
          </a:prstGeom>
          <a:solidFill>
            <a:srgbClr val="7BC83E"/>
          </a:solidFill>
          <a:ln>
            <a:noFill/>
          </a:ln>
        </p:spPr>
        <p:txBody>
          <a:bodyPr spcFirstLastPara="1" wrap="square" lIns="0" tIns="0" rIns="0" bIns="0" anchor="ctr">
            <a:norm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 u="none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  <a:endParaRPr sz="17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7" name="Google Shape;77;p6">
            <a:extLst>
              <a:ext uri="{FF2B5EF4-FFF2-40B4-BE49-F238E27FC236}">
                <a16:creationId xmlns:a16="http://schemas.microsoft.com/office/drawing/2014/main" id="{BE74DF5A-D91B-42A1-B0F1-CEEB2974A95C}"/>
              </a:ext>
            </a:extLst>
          </p:cNvPr>
          <p:cNvSpPr>
            <a:spLocks noGrp="1"/>
          </p:cNvSpPr>
          <p:nvPr/>
        </p:nvSpPr>
        <p:spPr>
          <a:xfrm>
            <a:off x="1280160" y="1130040"/>
            <a:ext cx="799956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00" b="1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Проблема</a:t>
            </a:r>
            <a:endParaRPr sz="28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Google Shape;78;p6">
            <a:extLst>
              <a:ext uri="{FF2B5EF4-FFF2-40B4-BE49-F238E27FC236}">
                <a16:creationId xmlns:a16="http://schemas.microsoft.com/office/drawing/2014/main" id="{F79A34D4-766F-42C8-BC26-777AD6BF4FE7}"/>
              </a:ext>
            </a:extLst>
          </p:cNvPr>
          <p:cNvSpPr>
            <a:spLocks noGrp="1"/>
          </p:cNvSpPr>
          <p:nvPr/>
        </p:nvSpPr>
        <p:spPr>
          <a:xfrm>
            <a:off x="640080" y="1820160"/>
            <a:ext cx="9499680" cy="449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rgbClr val="B9B9BD"/>
                </a:solidFill>
                <a:latin typeface="Arial"/>
                <a:ea typeface="Arial"/>
                <a:cs typeface="Arial"/>
              </a:defRPr>
            </a:pPr>
            <a:r>
              <a:rPr sz="1500" b="0" u="none">
                <a:solidFill>
                  <a:srgbClr val="B9B9BD"/>
                </a:solidFill>
                <a:latin typeface="Arial"/>
                <a:ea typeface="Arial"/>
                <a:cs typeface="Arial"/>
              </a:rPr>
              <a:t>Полная трассировка помогает увидеть механику, но на длинной ленте повышает риск ошибки.</a:t>
            </a:r>
            <a:endParaRPr sz="145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9" name="Google Shape;79;p6">
            <a:extLst>
              <a:ext uri="{FF2B5EF4-FFF2-40B4-BE49-F238E27FC236}">
                <a16:creationId xmlns:a16="http://schemas.microsoft.com/office/drawing/2014/main" id="{0FEF815D-6387-41D3-B4B6-47ABDF9BFE78}"/>
              </a:ext>
            </a:extLst>
          </p:cNvPr>
          <p:cNvSpPr>
            <a:spLocks noGrp="1"/>
          </p:cNvSpPr>
          <p:nvPr/>
        </p:nvSpPr>
        <p:spPr>
          <a:xfrm>
            <a:off x="640080" y="248004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0" name="Google Shape;80;p6">
            <a:extLst>
              <a:ext uri="{FF2B5EF4-FFF2-40B4-BE49-F238E27FC236}">
                <a16:creationId xmlns:a16="http://schemas.microsoft.com/office/drawing/2014/main" id="{AE1FC39F-7C96-44D7-952B-DED61757F519}"/>
              </a:ext>
            </a:extLst>
          </p:cNvPr>
          <p:cNvSpPr>
            <a:spLocks noGrp="1"/>
          </p:cNvSpPr>
          <p:nvPr/>
        </p:nvSpPr>
        <p:spPr>
          <a:xfrm>
            <a:off x="900000" y="2630160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Ученик механически выполняет десятки команд и теряет время.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Google Shape;89;p6">
            <a:extLst>
              <a:ext uri="{FF2B5EF4-FFF2-40B4-BE49-F238E27FC236}">
                <a16:creationId xmlns:a16="http://schemas.microsoft.com/office/drawing/2014/main" id="{89FEA8BA-AF6E-4A11-9879-DF161EB6058B}"/>
              </a:ext>
            </a:extLst>
          </p:cNvPr>
          <p:cNvSpPr>
            <a:spLocks noGrp="1"/>
          </p:cNvSpPr>
          <p:nvPr/>
        </p:nvSpPr>
        <p:spPr>
          <a:xfrm>
            <a:off x="640080" y="5550120"/>
            <a:ext cx="10911600" cy="499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Google Shape;79;p6">
            <a:extLst>
              <a:ext uri="{FF2B5EF4-FFF2-40B4-BE49-F238E27FC236}">
                <a16:creationId xmlns:a16="http://schemas.microsoft.com/office/drawing/2014/main" id="{083B6A70-49B8-5F69-C890-A15FA6CBD85E}"/>
              </a:ext>
            </a:extLst>
          </p:cNvPr>
          <p:cNvSpPr>
            <a:spLocks noGrp="1"/>
          </p:cNvSpPr>
          <p:nvPr/>
        </p:nvSpPr>
        <p:spPr>
          <a:xfrm>
            <a:off x="640200" y="3513600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Google Shape;80;p6">
            <a:extLst>
              <a:ext uri="{FF2B5EF4-FFF2-40B4-BE49-F238E27FC236}">
                <a16:creationId xmlns:a16="http://schemas.microsoft.com/office/drawing/2014/main" id="{36D816BA-982A-3B2E-88F4-CE15264062A9}"/>
              </a:ext>
            </a:extLst>
          </p:cNvPr>
          <p:cNvSpPr>
            <a:spLocks noGrp="1"/>
          </p:cNvSpPr>
          <p:nvPr/>
        </p:nvSpPr>
        <p:spPr>
          <a:xfrm>
            <a:off x="900120" y="3663720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Ошибки накапливаются, а итоговый ответ не показывает источник затруднения.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79;p6">
            <a:extLst>
              <a:ext uri="{FF2B5EF4-FFF2-40B4-BE49-F238E27FC236}">
                <a16:creationId xmlns:a16="http://schemas.microsoft.com/office/drawing/2014/main" id="{67AA7364-7C84-F636-1E21-4875802825F9}"/>
              </a:ext>
            </a:extLst>
          </p:cNvPr>
          <p:cNvSpPr>
            <a:spLocks noGrp="1"/>
          </p:cNvSpPr>
          <p:nvPr/>
        </p:nvSpPr>
        <p:spPr>
          <a:xfrm>
            <a:off x="640200" y="4588201"/>
            <a:ext cx="10911600" cy="949680"/>
          </a:xfrm>
          <a:prstGeom prst="roundRect">
            <a:avLst>
              <a:gd name="adj" fmla="val 3000"/>
            </a:avLst>
          </a:prstGeom>
          <a:solidFill>
            <a:srgbClr val="171717"/>
          </a:solidFill>
          <a:ln w="9525" cmpd="sng">
            <a:solidFill>
              <a:srgbClr val="2E2E2E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90000" tIns="45000" rIns="90000" bIns="45000" anchor="t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1800" b="0" u="none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Google Shape;80;p6">
            <a:extLst>
              <a:ext uri="{FF2B5EF4-FFF2-40B4-BE49-F238E27FC236}">
                <a16:creationId xmlns:a16="http://schemas.microsoft.com/office/drawing/2014/main" id="{14CF3C0F-20C8-6AB7-0B61-4D38DD8AE785}"/>
              </a:ext>
            </a:extLst>
          </p:cNvPr>
          <p:cNvSpPr>
            <a:spLocks noGrp="1"/>
          </p:cNvSpPr>
          <p:nvPr/>
        </p:nvSpPr>
        <p:spPr>
          <a:xfrm>
            <a:off x="900120" y="4738321"/>
            <a:ext cx="1039968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 u="none">
                <a:solidFill>
                  <a:srgbClr val="FFFFFF"/>
                </a:solidFill>
                <a:latin typeface="Arial"/>
                <a:ea typeface="Arial"/>
                <a:cs typeface="Arial"/>
              </a:rPr>
              <a:t>Учителю нужен воспроизводимый способ научить выбирать стратегию и подтверждать её данными.</a:t>
            </a:r>
            <a:endParaRPr sz="1500" b="0" u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0463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94;p7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11" name="Овал 110">
            <a:extLst>
              <a:ext uri="{FF2B5EF4-FFF2-40B4-BE49-F238E27FC236}">
                <a16:creationId xmlns:a16="http://schemas.microsoft.com/office/drawing/2014/main" id="{2EB781C8-AD88-4B2C-874C-2112C07C9028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CF3FD907-3B63-4D08-9FC6-A60BFD096809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268F696-EF55-4C3B-952E-D212E973E17C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Методическая система урока</a:t>
            </a: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7A845AB5-E488-4478-8D6D-0A41B95483F0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Материалы связывают действия учителя, исследование ученика и проверяемый результат.</a:t>
            </a: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8BCB9B6E-B0F3-4FF9-9AC9-6FCC71C43360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6" name="Прямоугольник: скругленные углы 115">
            <a:extLst>
              <a:ext uri="{FF2B5EF4-FFF2-40B4-BE49-F238E27FC236}">
                <a16:creationId xmlns:a16="http://schemas.microsoft.com/office/drawing/2014/main" id="{700EB6E5-991E-4EB2-8590-A2DF659C929E}"/>
              </a:ext>
            </a:extLst>
          </p:cNvPr>
          <p:cNvSpPr>
            <a:spLocks noGrp="1"/>
          </p:cNvSpPr>
          <p:nvPr/>
        </p:nvSpPr>
        <p:spPr>
          <a:xfrm>
            <a:off x="638175" y="2324100"/>
            <a:ext cx="10915650" cy="552450"/>
          </a:xfrm>
          <a:prstGeom prst="roundRect">
            <a:avLst>
              <a:gd name="adj" fmla="val 17241"/>
            </a:avLst>
          </a:prstGeom>
          <a:solidFill>
            <a:srgbClr val="EAF6DF"/>
          </a:solidFill>
          <a:ln w="9525">
            <a:solidFill>
              <a:srgbClr val="7AC943"/>
            </a:solidFill>
            <a:prstDash val="solid"/>
          </a:ln>
        </p:spPr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8A936FEA-48FE-4855-B5DC-2C424B532F20}"/>
              </a:ext>
            </a:extLst>
          </p:cNvPr>
          <p:cNvSpPr>
            <a:spLocks noGrp="1"/>
          </p:cNvSpPr>
          <p:nvPr/>
        </p:nvSpPr>
        <p:spPr>
          <a:xfrm>
            <a:off x="876300" y="2400300"/>
            <a:ext cx="10439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5000" lnSpcReduction="10000"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Комплект учителя управляет ходом двух уроков: сценарий, диагностические вопросы, дифференциация и резервные решения</a:t>
            </a:r>
          </a:p>
        </p:txBody>
      </p:sp>
      <p:sp>
        <p:nvSpPr>
          <p:cNvPr id="118" name="Прямая соединительная линия 117">
            <a:extLst>
              <a:ext uri="{FF2B5EF4-FFF2-40B4-BE49-F238E27FC236}">
                <a16:creationId xmlns:a16="http://schemas.microsoft.com/office/drawing/2014/main" id="{84F339F2-A0E3-472A-926D-B02028C6DFF0}"/>
              </a:ext>
            </a:extLst>
          </p:cNvPr>
          <p:cNvSpPr>
            <a:spLocks noGrp="1"/>
          </p:cNvSpPr>
          <p:nvPr/>
        </p:nvSpPr>
        <p:spPr>
          <a:xfrm>
            <a:off x="25908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19" name="Прямая соединительная линия 118">
            <a:extLst>
              <a:ext uri="{FF2B5EF4-FFF2-40B4-BE49-F238E27FC236}">
                <a16:creationId xmlns:a16="http://schemas.microsoft.com/office/drawing/2014/main" id="{25A84868-7ECD-4E35-9FC1-3723DDE50B08}"/>
              </a:ext>
            </a:extLst>
          </p:cNvPr>
          <p:cNvSpPr>
            <a:spLocks noGrp="1"/>
          </p:cNvSpPr>
          <p:nvPr/>
        </p:nvSpPr>
        <p:spPr>
          <a:xfrm>
            <a:off x="48006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0" name="Прямая соединительная линия 119">
            <a:extLst>
              <a:ext uri="{FF2B5EF4-FFF2-40B4-BE49-F238E27FC236}">
                <a16:creationId xmlns:a16="http://schemas.microsoft.com/office/drawing/2014/main" id="{1F708070-5D3F-4B2B-8601-5BE561489F09}"/>
              </a:ext>
            </a:extLst>
          </p:cNvPr>
          <p:cNvSpPr>
            <a:spLocks noGrp="1"/>
          </p:cNvSpPr>
          <p:nvPr/>
        </p:nvSpPr>
        <p:spPr>
          <a:xfrm>
            <a:off x="70104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1" name="Прямая соединительная линия 120">
            <a:extLst>
              <a:ext uri="{FF2B5EF4-FFF2-40B4-BE49-F238E27FC236}">
                <a16:creationId xmlns:a16="http://schemas.microsoft.com/office/drawing/2014/main" id="{C6FD338C-5E52-4E77-9E60-A2D176F5B72F}"/>
              </a:ext>
            </a:extLst>
          </p:cNvPr>
          <p:cNvSpPr>
            <a:spLocks noGrp="1"/>
          </p:cNvSpPr>
          <p:nvPr/>
        </p:nvSpPr>
        <p:spPr>
          <a:xfrm>
            <a:off x="9220200" y="3800475"/>
            <a:ext cx="257175" cy="0"/>
          </a:xfrm>
          <a:prstGeom prst="line">
            <a:avLst/>
          </a:prstGeom>
          <a:noFill/>
          <a:ln w="19050">
            <a:solidFill>
              <a:srgbClr val="8A8C92"/>
            </a:solidFill>
            <a:prstDash val="solid"/>
          </a:ln>
        </p:spPr>
      </p:sp>
      <p:sp>
        <p:nvSpPr>
          <p:cNvPr id="122" name="Прямоугольник: скругленные углы 121">
            <a:extLst>
              <a:ext uri="{FF2B5EF4-FFF2-40B4-BE49-F238E27FC236}">
                <a16:creationId xmlns:a16="http://schemas.microsoft.com/office/drawing/2014/main" id="{05481026-2116-4944-91E3-9DCAD927C513}"/>
              </a:ext>
            </a:extLst>
          </p:cNvPr>
          <p:cNvSpPr>
            <a:spLocks noGrp="1"/>
          </p:cNvSpPr>
          <p:nvPr/>
        </p:nvSpPr>
        <p:spPr>
          <a:xfrm>
            <a:off x="6381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4ED0C4B-164D-474D-BB9F-AAC0E9E369DE}"/>
              </a:ext>
            </a:extLst>
          </p:cNvPr>
          <p:cNvSpPr>
            <a:spLocks noGrp="1"/>
          </p:cNvSpPr>
          <p:nvPr/>
        </p:nvSpPr>
        <p:spPr>
          <a:xfrm>
            <a:off x="7905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Проектный кейс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C813D625-640B-42B2-93DF-D14E45B77EBE}"/>
              </a:ext>
            </a:extLst>
          </p:cNvPr>
          <p:cNvSpPr>
            <a:spLocks noGrp="1"/>
          </p:cNvSpPr>
          <p:nvPr/>
        </p:nvSpPr>
        <p:spPr>
          <a:xfrm>
            <a:off x="7905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Роль, заказчик и задача команды</a:t>
            </a:r>
          </a:p>
        </p:txBody>
      </p:sp>
      <p:sp>
        <p:nvSpPr>
          <p:cNvPr id="125" name="Прямоугольник: скругленные углы 124">
            <a:extLst>
              <a:ext uri="{FF2B5EF4-FFF2-40B4-BE49-F238E27FC236}">
                <a16:creationId xmlns:a16="http://schemas.microsoft.com/office/drawing/2014/main" id="{204CA056-6885-4C8C-8205-011C443A0326}"/>
              </a:ext>
            </a:extLst>
          </p:cNvPr>
          <p:cNvSpPr>
            <a:spLocks noGrp="1"/>
          </p:cNvSpPr>
          <p:nvPr/>
        </p:nvSpPr>
        <p:spPr>
          <a:xfrm>
            <a:off x="28479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06C83425-5315-422E-BD3F-337187DA8B11}"/>
              </a:ext>
            </a:extLst>
          </p:cNvPr>
          <p:cNvSpPr>
            <a:spLocks noGrp="1"/>
          </p:cNvSpPr>
          <p:nvPr/>
        </p:nvSpPr>
        <p:spPr>
          <a:xfrm>
            <a:off x="30003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D1632CCE-CB1C-46B1-AE58-A49A55743379}"/>
              </a:ext>
            </a:extLst>
          </p:cNvPr>
          <p:cNvSpPr>
            <a:spLocks noGrp="1"/>
          </p:cNvSpPr>
          <p:nvPr/>
        </p:nvSpPr>
        <p:spPr>
          <a:xfrm>
            <a:off x="30003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Гипотеза, три попытки и доказательства</a:t>
            </a:r>
          </a:p>
        </p:txBody>
      </p:sp>
      <p:sp>
        <p:nvSpPr>
          <p:cNvPr id="128" name="Прямоугольник: скругленные углы 127">
            <a:extLst>
              <a:ext uri="{FF2B5EF4-FFF2-40B4-BE49-F238E27FC236}">
                <a16:creationId xmlns:a16="http://schemas.microsoft.com/office/drawing/2014/main" id="{2B7E2E73-31EB-41F6-9A80-26D7ED342686}"/>
              </a:ext>
            </a:extLst>
          </p:cNvPr>
          <p:cNvSpPr>
            <a:spLocks noGrp="1"/>
          </p:cNvSpPr>
          <p:nvPr/>
        </p:nvSpPr>
        <p:spPr>
          <a:xfrm>
            <a:off x="5057775" y="3143250"/>
            <a:ext cx="1952625" cy="1390650"/>
          </a:xfrm>
          <a:prstGeom prst="roundRect">
            <a:avLst>
              <a:gd name="adj" fmla="val 6849"/>
            </a:avLst>
          </a:prstGeom>
          <a:noFill/>
          <a:ln w="9525">
            <a:solidFill>
              <a:srgbClr val="287C38"/>
            </a:solidFill>
            <a:prstDash val="solid"/>
          </a:ln>
        </p:spPr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5E4992DE-7020-40C2-B7C2-49A6B82D24DA}"/>
              </a:ext>
            </a:extLst>
          </p:cNvPr>
          <p:cNvSpPr>
            <a:spLocks noGrp="1"/>
          </p:cNvSpPr>
          <p:nvPr/>
        </p:nvSpPr>
        <p:spPr>
          <a:xfrm>
            <a:off x="52101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Тренажёр</a:t>
            </a: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386F6-3648-467F-A553-02A26B713BED}"/>
              </a:ext>
            </a:extLst>
          </p:cNvPr>
          <p:cNvSpPr>
            <a:spLocks noGrp="1"/>
          </p:cNvSpPr>
          <p:nvPr/>
        </p:nvSpPr>
        <p:spPr>
          <a:xfrm>
            <a:off x="52101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Наблюдение шага и проверка гипотезы</a:t>
            </a:r>
          </a:p>
        </p:txBody>
      </p:sp>
      <p:sp>
        <p:nvSpPr>
          <p:cNvPr id="131" name="Прямоугольник: скругленные углы 130">
            <a:extLst>
              <a:ext uri="{FF2B5EF4-FFF2-40B4-BE49-F238E27FC236}">
                <a16:creationId xmlns:a16="http://schemas.microsoft.com/office/drawing/2014/main" id="{60B80CE4-0B84-491E-B752-83568146F3D9}"/>
              </a:ext>
            </a:extLst>
          </p:cNvPr>
          <p:cNvSpPr>
            <a:spLocks noGrp="1"/>
          </p:cNvSpPr>
          <p:nvPr/>
        </p:nvSpPr>
        <p:spPr>
          <a:xfrm>
            <a:off x="72675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749453E9-B986-4C43-BCBC-913561AA534F}"/>
              </a:ext>
            </a:extLst>
          </p:cNvPr>
          <p:cNvSpPr>
            <a:spLocks noGrp="1"/>
          </p:cNvSpPr>
          <p:nvPr/>
        </p:nvSpPr>
        <p:spPr>
          <a:xfrm>
            <a:off x="74199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576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111EE3F6-75A0-4E27-BB8E-AA43DCBBD3C9}"/>
              </a:ext>
            </a:extLst>
          </p:cNvPr>
          <p:cNvSpPr>
            <a:spLocks noGrp="1"/>
          </p:cNvSpPr>
          <p:nvPr/>
        </p:nvSpPr>
        <p:spPr>
          <a:xfrm>
            <a:off x="74199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стратегии, карта ошибок и пример</a:t>
            </a:r>
          </a:p>
        </p:txBody>
      </p:sp>
      <p:sp>
        <p:nvSpPr>
          <p:cNvPr id="134" name="Прямоугольник: скругленные углы 133">
            <a:extLst>
              <a:ext uri="{FF2B5EF4-FFF2-40B4-BE49-F238E27FC236}">
                <a16:creationId xmlns:a16="http://schemas.microsoft.com/office/drawing/2014/main" id="{2AF00C4B-801D-41E7-9E0A-24DF3E8F7EC2}"/>
              </a:ext>
            </a:extLst>
          </p:cNvPr>
          <p:cNvSpPr>
            <a:spLocks noGrp="1"/>
          </p:cNvSpPr>
          <p:nvPr/>
        </p:nvSpPr>
        <p:spPr>
          <a:xfrm>
            <a:off x="9477375" y="3143250"/>
            <a:ext cx="1952625" cy="1390650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AC50EC39-3B00-4227-B345-3309D883DF48}"/>
              </a:ext>
            </a:extLst>
          </p:cNvPr>
          <p:cNvSpPr>
            <a:spLocks noGrp="1"/>
          </p:cNvSpPr>
          <p:nvPr/>
        </p:nvSpPr>
        <p:spPr>
          <a:xfrm>
            <a:off x="9629775" y="3305175"/>
            <a:ext cx="16478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9605" lnSpcReduction="10000"/>
          </a:bodyPr>
          <a:lstStyle/>
          <a:p>
            <a:pPr algn="ctr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КИМы и рубрикатор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DD5D3A26-FB64-4046-9FDE-0E72059FA2C4}"/>
              </a:ext>
            </a:extLst>
          </p:cNvPr>
          <p:cNvSpPr>
            <a:spLocks noGrp="1"/>
          </p:cNvSpPr>
          <p:nvPr/>
        </p:nvSpPr>
        <p:spPr>
          <a:xfrm>
            <a:off x="9629775" y="3724275"/>
            <a:ext cx="1647825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Контроль переноса и экспертиза продукта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E7D6529A-BC24-4C14-BBAE-D6866B2C2FD9}"/>
              </a:ext>
            </a:extLst>
          </p:cNvPr>
          <p:cNvSpPr>
            <a:spLocks noGrp="1"/>
          </p:cNvSpPr>
          <p:nvPr/>
        </p:nvSpPr>
        <p:spPr>
          <a:xfrm>
            <a:off x="1066800" y="4953000"/>
            <a:ext cx="100584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7778" lnSpcReduction="10000"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Итог создаёт ученик: диагностический маршрут выбора стратегии, проверенный другой командой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0E9B0243-B505-4942-B597-F9747B3ED618}"/>
              </a:ext>
            </a:extLst>
          </p:cNvPr>
          <p:cNvSpPr>
            <a:spLocks noGrp="1"/>
          </p:cNvSpPr>
          <p:nvPr/>
        </p:nvSpPr>
        <p:spPr>
          <a:xfrm>
            <a:off x="1809750" y="5476875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Тренажёр занимает один этап системы и поставляет данные для анализа</a:t>
            </a:r>
          </a:p>
        </p:txBody>
      </p:sp>
    </p:spTree>
    <p:extLst>
      <p:ext uri="{BB962C8B-B14F-4D97-AF65-F5344CB8AC3E}">
        <p14:creationId xmlns:p14="http://schemas.microsoft.com/office/powerpoint/2010/main" val="15291327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14;p8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40" name="Овал 139">
            <a:extLst>
              <a:ext uri="{FF2B5EF4-FFF2-40B4-BE49-F238E27FC236}">
                <a16:creationId xmlns:a16="http://schemas.microsoft.com/office/drawing/2014/main" id="{34257CB8-48D6-4CA8-B226-E115BD902CD6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23ED7E1A-D6B1-4C77-95B8-936D66EA9920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AF1B1B8A-2705-4450-A6BF-154B94D3D76B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Пять спринтов и материалы</a:t>
            </a:r>
          </a:p>
        </p:txBody>
      </p:sp>
      <p:sp>
        <p:nvSpPr>
          <p:cNvPr id="143" name="Прямоугольник 142">
            <a:extLst>
              <a:ext uri="{FF2B5EF4-FFF2-40B4-BE49-F238E27FC236}">
                <a16:creationId xmlns:a16="http://schemas.microsoft.com/office/drawing/2014/main" id="{1392AB86-2A77-41B1-9C76-BE4A7049B9F9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Каждый этап заканчивается артефактом, который входит в итоговый маршрут.</a:t>
            </a:r>
          </a:p>
        </p:txBody>
      </p:sp>
      <p:sp>
        <p:nvSpPr>
          <p:cNvPr id="144" name="Прямоугольник 143">
            <a:extLst>
              <a:ext uri="{FF2B5EF4-FFF2-40B4-BE49-F238E27FC236}">
                <a16:creationId xmlns:a16="http://schemas.microsoft.com/office/drawing/2014/main" id="{A33E96F1-2E86-464E-A472-EF37554F9201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45" name="Прямоугольник: скругленные углы 144">
            <a:extLst>
              <a:ext uri="{FF2B5EF4-FFF2-40B4-BE49-F238E27FC236}">
                <a16:creationId xmlns:a16="http://schemas.microsoft.com/office/drawing/2014/main" id="{962998E3-CC72-4BB4-8D12-87AB2D8DD50F}"/>
              </a:ext>
            </a:extLst>
          </p:cNvPr>
          <p:cNvSpPr>
            <a:spLocks noGrp="1"/>
          </p:cNvSpPr>
          <p:nvPr/>
        </p:nvSpPr>
        <p:spPr>
          <a:xfrm>
            <a:off x="638175" y="230505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FC55A4FD-664C-42E0-BDED-35B1DAF60083}"/>
              </a:ext>
            </a:extLst>
          </p:cNvPr>
          <p:cNvSpPr>
            <a:spLocks noGrp="1"/>
          </p:cNvSpPr>
          <p:nvPr/>
        </p:nvSpPr>
        <p:spPr>
          <a:xfrm>
            <a:off x="866775" y="244792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9D9CBFA-E076-4413-AFDC-01BCCC002FD6}"/>
              </a:ext>
            </a:extLst>
          </p:cNvPr>
          <p:cNvSpPr>
            <a:spLocks noGrp="1"/>
          </p:cNvSpPr>
          <p:nvPr/>
        </p:nvSpPr>
        <p:spPr>
          <a:xfrm>
            <a:off x="866775" y="244792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83E1FA2C-984F-4BD2-8056-7F883965059D}"/>
              </a:ext>
            </a:extLst>
          </p:cNvPr>
          <p:cNvSpPr>
            <a:spLocks noGrp="1"/>
          </p:cNvSpPr>
          <p:nvPr/>
        </p:nvSpPr>
        <p:spPr>
          <a:xfrm>
            <a:off x="1504950" y="238125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Исходная стратегия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14F52057-849B-4B4C-AE8F-BB6F4E31CB7A}"/>
              </a:ext>
            </a:extLst>
          </p:cNvPr>
          <p:cNvSpPr>
            <a:spLocks noGrp="1"/>
          </p:cNvSpPr>
          <p:nvPr/>
        </p:nvSpPr>
        <p:spPr>
          <a:xfrm>
            <a:off x="3905250" y="238125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Входной замер и первый способ рассуждения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508A8B35-9230-49AF-BBDD-954A1BB24F46}"/>
              </a:ext>
            </a:extLst>
          </p:cNvPr>
          <p:cNvSpPr>
            <a:spLocks noGrp="1"/>
          </p:cNvSpPr>
          <p:nvPr/>
        </p:nvSpPr>
        <p:spPr>
          <a:xfrm>
            <a:off x="7696200" y="238125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КИМ + рабочий лист</a:t>
            </a:r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A05EAFD7-68CA-4A7F-B28F-B13A92073C03}"/>
              </a:ext>
            </a:extLst>
          </p:cNvPr>
          <p:cNvSpPr>
            <a:spLocks noGrp="1"/>
          </p:cNvSpPr>
          <p:nvPr/>
        </p:nvSpPr>
        <p:spPr>
          <a:xfrm>
            <a:off x="10287000" y="238125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 мин</a:t>
            </a:r>
          </a:p>
        </p:txBody>
      </p:sp>
      <p:sp>
        <p:nvSpPr>
          <p:cNvPr id="152" name="Прямоугольник: скругленные углы 151">
            <a:extLst>
              <a:ext uri="{FF2B5EF4-FFF2-40B4-BE49-F238E27FC236}">
                <a16:creationId xmlns:a16="http://schemas.microsoft.com/office/drawing/2014/main" id="{A66C1F47-F64B-4ABB-914F-FF2BBB139781}"/>
              </a:ext>
            </a:extLst>
          </p:cNvPr>
          <p:cNvSpPr>
            <a:spLocks noGrp="1"/>
          </p:cNvSpPr>
          <p:nvPr/>
        </p:nvSpPr>
        <p:spPr>
          <a:xfrm>
            <a:off x="638175" y="3095625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53" name="Овал 152">
            <a:extLst>
              <a:ext uri="{FF2B5EF4-FFF2-40B4-BE49-F238E27FC236}">
                <a16:creationId xmlns:a16="http://schemas.microsoft.com/office/drawing/2014/main" id="{C2178CA3-065A-4998-85F1-0210A845340A}"/>
              </a:ext>
            </a:extLst>
          </p:cNvPr>
          <p:cNvSpPr>
            <a:spLocks noGrp="1"/>
          </p:cNvSpPr>
          <p:nvPr/>
        </p:nvSpPr>
        <p:spPr>
          <a:xfrm>
            <a:off x="866775" y="3238500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99DF5715-D829-45C3-A56C-6BE36AE13C21}"/>
              </a:ext>
            </a:extLst>
          </p:cNvPr>
          <p:cNvSpPr>
            <a:spLocks noGrp="1"/>
          </p:cNvSpPr>
          <p:nvPr/>
        </p:nvSpPr>
        <p:spPr>
          <a:xfrm>
            <a:off x="866775" y="3238500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D7FE5B19-DA9B-4F1D-8CE5-9739C4E58F7D}"/>
              </a:ext>
            </a:extLst>
          </p:cNvPr>
          <p:cNvSpPr>
            <a:spLocks noGrp="1"/>
          </p:cNvSpPr>
          <p:nvPr/>
        </p:nvSpPr>
        <p:spPr>
          <a:xfrm>
            <a:off x="1504950" y="3171825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Эксперимент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CD2AD0E-AF5D-44BA-9B6E-54921EA6C3D5}"/>
              </a:ext>
            </a:extLst>
          </p:cNvPr>
          <p:cNvSpPr>
            <a:spLocks noGrp="1"/>
          </p:cNvSpPr>
          <p:nvPr/>
        </p:nvSpPr>
        <p:spPr>
          <a:xfrm>
            <a:off x="3905250" y="317182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попытки: время, шаги, подсказки и ошибки</a:t>
            </a:r>
          </a:p>
        </p:txBody>
      </p:sp>
      <p:sp>
        <p:nvSpPr>
          <p:cNvPr id="157" name="Прямоугольник 156">
            <a:extLst>
              <a:ext uri="{FF2B5EF4-FFF2-40B4-BE49-F238E27FC236}">
                <a16:creationId xmlns:a16="http://schemas.microsoft.com/office/drawing/2014/main" id="{FF41165A-1B0A-45FF-8088-494B17D33F0D}"/>
              </a:ext>
            </a:extLst>
          </p:cNvPr>
          <p:cNvSpPr>
            <a:spLocks noGrp="1"/>
          </p:cNvSpPr>
          <p:nvPr/>
        </p:nvSpPr>
        <p:spPr>
          <a:xfrm>
            <a:off x="7696200" y="3171825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Тренажёр + рабочий лист</a:t>
            </a:r>
          </a:p>
        </p:txBody>
      </p:sp>
      <p:sp>
        <p:nvSpPr>
          <p:cNvPr id="158" name="Прямоугольник 157">
            <a:extLst>
              <a:ext uri="{FF2B5EF4-FFF2-40B4-BE49-F238E27FC236}">
                <a16:creationId xmlns:a16="http://schemas.microsoft.com/office/drawing/2014/main" id="{005B9A24-7CE6-4BF8-AF83-258E89FD168E}"/>
              </a:ext>
            </a:extLst>
          </p:cNvPr>
          <p:cNvSpPr>
            <a:spLocks noGrp="1"/>
          </p:cNvSpPr>
          <p:nvPr/>
        </p:nvSpPr>
        <p:spPr>
          <a:xfrm>
            <a:off x="10287000" y="3171825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 мин</a:t>
            </a:r>
          </a:p>
        </p:txBody>
      </p:sp>
      <p:sp>
        <p:nvSpPr>
          <p:cNvPr id="159" name="Прямоугольник: скругленные углы 158">
            <a:extLst>
              <a:ext uri="{FF2B5EF4-FFF2-40B4-BE49-F238E27FC236}">
                <a16:creationId xmlns:a16="http://schemas.microsoft.com/office/drawing/2014/main" id="{7113A5A7-468D-4D2D-BEDD-A1C4D70BEB72}"/>
              </a:ext>
            </a:extLst>
          </p:cNvPr>
          <p:cNvSpPr>
            <a:spLocks noGrp="1"/>
          </p:cNvSpPr>
          <p:nvPr/>
        </p:nvSpPr>
        <p:spPr>
          <a:xfrm>
            <a:off x="638175" y="388620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60" name="Овал 159">
            <a:extLst>
              <a:ext uri="{FF2B5EF4-FFF2-40B4-BE49-F238E27FC236}">
                <a16:creationId xmlns:a16="http://schemas.microsoft.com/office/drawing/2014/main" id="{6AB0F119-0D3E-4E93-B1A7-BD4B283BD092}"/>
              </a:ext>
            </a:extLst>
          </p:cNvPr>
          <p:cNvSpPr>
            <a:spLocks noGrp="1"/>
          </p:cNvSpPr>
          <p:nvPr/>
        </p:nvSpPr>
        <p:spPr>
          <a:xfrm>
            <a:off x="866775" y="402907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4C23E9F1-74EA-4783-A473-982A59E35F4D}"/>
              </a:ext>
            </a:extLst>
          </p:cNvPr>
          <p:cNvSpPr>
            <a:spLocks noGrp="1"/>
          </p:cNvSpPr>
          <p:nvPr/>
        </p:nvSpPr>
        <p:spPr>
          <a:xfrm>
            <a:off x="866775" y="402907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C9768BC-D9DB-46AD-B985-B1F159F1F06C}"/>
              </a:ext>
            </a:extLst>
          </p:cNvPr>
          <p:cNvSpPr>
            <a:spLocks noGrp="1"/>
          </p:cNvSpPr>
          <p:nvPr/>
        </p:nvSpPr>
        <p:spPr>
          <a:xfrm>
            <a:off x="1504950" y="396240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Закономерность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892F82D1-BB6C-4FF6-8737-0706844064DF}"/>
              </a:ext>
            </a:extLst>
          </p:cNvPr>
          <p:cNvSpPr>
            <a:spLocks noGrp="1"/>
          </p:cNvSpPr>
          <p:nvPr/>
        </p:nvSpPr>
        <p:spPr>
          <a:xfrm>
            <a:off x="3905250" y="396240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Цикл или инвариант, обычный и граничный пример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7DCC2508-80A6-4105-9C44-11932C4CFAB7}"/>
              </a:ext>
            </a:extLst>
          </p:cNvPr>
          <p:cNvSpPr>
            <a:spLocks noGrp="1"/>
          </p:cNvSpPr>
          <p:nvPr/>
        </p:nvSpPr>
        <p:spPr>
          <a:xfrm>
            <a:off x="7696200" y="396240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9ACCB84-3938-4A3B-B8F4-CBD71394717B}"/>
              </a:ext>
            </a:extLst>
          </p:cNvPr>
          <p:cNvSpPr>
            <a:spLocks noGrp="1"/>
          </p:cNvSpPr>
          <p:nvPr/>
        </p:nvSpPr>
        <p:spPr>
          <a:xfrm>
            <a:off x="10287000" y="396240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15 мин</a:t>
            </a:r>
          </a:p>
        </p:txBody>
      </p:sp>
      <p:sp>
        <p:nvSpPr>
          <p:cNvPr id="166" name="Прямоугольник: скругленные углы 165">
            <a:extLst>
              <a:ext uri="{FF2B5EF4-FFF2-40B4-BE49-F238E27FC236}">
                <a16:creationId xmlns:a16="http://schemas.microsoft.com/office/drawing/2014/main" id="{F99A0C2C-06F9-4414-9BDD-3A0AEF74F6C6}"/>
              </a:ext>
            </a:extLst>
          </p:cNvPr>
          <p:cNvSpPr>
            <a:spLocks noGrp="1"/>
          </p:cNvSpPr>
          <p:nvPr/>
        </p:nvSpPr>
        <p:spPr>
          <a:xfrm>
            <a:off x="638175" y="4676775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67" name="Овал 166">
            <a:extLst>
              <a:ext uri="{FF2B5EF4-FFF2-40B4-BE49-F238E27FC236}">
                <a16:creationId xmlns:a16="http://schemas.microsoft.com/office/drawing/2014/main" id="{2BA9D71C-719E-4C11-B223-8EF5619C2C53}"/>
              </a:ext>
            </a:extLst>
          </p:cNvPr>
          <p:cNvSpPr>
            <a:spLocks noGrp="1"/>
          </p:cNvSpPr>
          <p:nvPr/>
        </p:nvSpPr>
        <p:spPr>
          <a:xfrm>
            <a:off x="866775" y="4819650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4B616412-6979-401F-A231-FED24EF190A8}"/>
              </a:ext>
            </a:extLst>
          </p:cNvPr>
          <p:cNvSpPr>
            <a:spLocks noGrp="1"/>
          </p:cNvSpPr>
          <p:nvPr/>
        </p:nvSpPr>
        <p:spPr>
          <a:xfrm>
            <a:off x="866775" y="4819650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DA69A944-DF46-4C1C-90F5-6ED2747BA1D6}"/>
              </a:ext>
            </a:extLst>
          </p:cNvPr>
          <p:cNvSpPr>
            <a:spLocks noGrp="1"/>
          </p:cNvSpPr>
          <p:nvPr/>
        </p:nvSpPr>
        <p:spPr>
          <a:xfrm>
            <a:off x="1504950" y="4752975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Сборка маршрута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B7BD381D-58F1-45CC-A89C-91CC3468F039}"/>
              </a:ext>
            </a:extLst>
          </p:cNvPr>
          <p:cNvSpPr>
            <a:spLocks noGrp="1"/>
          </p:cNvSpPr>
          <p:nvPr/>
        </p:nvSpPr>
        <p:spPr>
          <a:xfrm>
            <a:off x="3905250" y="4752975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ветви стратегии, пример и карта ошибок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18EB0248-8F9E-44C1-9735-598D79930669}"/>
              </a:ext>
            </a:extLst>
          </p:cNvPr>
          <p:cNvSpPr>
            <a:spLocks noGrp="1"/>
          </p:cNvSpPr>
          <p:nvPr/>
        </p:nvSpPr>
        <p:spPr>
          <a:xfrm>
            <a:off x="7696200" y="4752975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C96C25E6-6579-48ED-8413-DE6930CE1771}"/>
              </a:ext>
            </a:extLst>
          </p:cNvPr>
          <p:cNvSpPr>
            <a:spLocks noGrp="1"/>
          </p:cNvSpPr>
          <p:nvPr/>
        </p:nvSpPr>
        <p:spPr>
          <a:xfrm>
            <a:off x="10287000" y="4752975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30 мин</a:t>
            </a:r>
          </a:p>
        </p:txBody>
      </p:sp>
      <p:sp>
        <p:nvSpPr>
          <p:cNvPr id="173" name="Прямоугольник: скругленные углы 172">
            <a:extLst>
              <a:ext uri="{FF2B5EF4-FFF2-40B4-BE49-F238E27FC236}">
                <a16:creationId xmlns:a16="http://schemas.microsoft.com/office/drawing/2014/main" id="{F1C5E2E5-F8DE-48C7-AC63-944938ED41D7}"/>
              </a:ext>
            </a:extLst>
          </p:cNvPr>
          <p:cNvSpPr>
            <a:spLocks noGrp="1"/>
          </p:cNvSpPr>
          <p:nvPr/>
        </p:nvSpPr>
        <p:spPr>
          <a:xfrm>
            <a:off x="638175" y="5467350"/>
            <a:ext cx="10915650" cy="695325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174" name="Овал 173">
            <a:extLst>
              <a:ext uri="{FF2B5EF4-FFF2-40B4-BE49-F238E27FC236}">
                <a16:creationId xmlns:a16="http://schemas.microsoft.com/office/drawing/2014/main" id="{66BE3B02-4377-4846-9AD2-68815FE79AA1}"/>
              </a:ext>
            </a:extLst>
          </p:cNvPr>
          <p:cNvSpPr>
            <a:spLocks noGrp="1"/>
          </p:cNvSpPr>
          <p:nvPr/>
        </p:nvSpPr>
        <p:spPr>
          <a:xfrm>
            <a:off x="866775" y="5610225"/>
            <a:ext cx="409575" cy="409575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51C703CF-3557-4896-9A13-3E7A5D322FED}"/>
              </a:ext>
            </a:extLst>
          </p:cNvPr>
          <p:cNvSpPr>
            <a:spLocks noGrp="1"/>
          </p:cNvSpPr>
          <p:nvPr/>
        </p:nvSpPr>
        <p:spPr>
          <a:xfrm>
            <a:off x="866775" y="5610225"/>
            <a:ext cx="4095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A580FF42-630D-4968-876D-735070F43110}"/>
              </a:ext>
            </a:extLst>
          </p:cNvPr>
          <p:cNvSpPr>
            <a:spLocks noGrp="1"/>
          </p:cNvSpPr>
          <p:nvPr/>
        </p:nvSpPr>
        <p:spPr>
          <a:xfrm>
            <a:off x="1504950" y="5543550"/>
            <a:ext cx="23336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Перекрёстная проверка</a:t>
            </a: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8D5E3245-A618-4451-B4BB-ACCCDB47EE05}"/>
              </a:ext>
            </a:extLst>
          </p:cNvPr>
          <p:cNvSpPr>
            <a:spLocks noGrp="1"/>
          </p:cNvSpPr>
          <p:nvPr/>
        </p:nvSpPr>
        <p:spPr>
          <a:xfrm>
            <a:off x="3905250" y="5543550"/>
            <a:ext cx="3667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Другая команда применяет продукт без пояснений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1BA89421-6768-4837-820C-F9712ED4416B}"/>
              </a:ext>
            </a:extLst>
          </p:cNvPr>
          <p:cNvSpPr>
            <a:spLocks noGrp="1"/>
          </p:cNvSpPr>
          <p:nvPr/>
        </p:nvSpPr>
        <p:spPr>
          <a:xfrm>
            <a:off x="7696200" y="5543550"/>
            <a:ext cx="2476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Маршрут + рубрикатор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53430B52-3A27-40D3-9686-D6B23A03408C}"/>
              </a:ext>
            </a:extLst>
          </p:cNvPr>
          <p:cNvSpPr>
            <a:spLocks noGrp="1"/>
          </p:cNvSpPr>
          <p:nvPr/>
        </p:nvSpPr>
        <p:spPr>
          <a:xfrm>
            <a:off x="10287000" y="5543550"/>
            <a:ext cx="1000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15 мин</a:t>
            </a:r>
          </a:p>
        </p:txBody>
      </p:sp>
    </p:spTree>
    <p:extLst>
      <p:ext uri="{BB962C8B-B14F-4D97-AF65-F5344CB8AC3E}">
        <p14:creationId xmlns:p14="http://schemas.microsoft.com/office/powerpoint/2010/main" val="145088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143;p9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pic>
        <p:nvPicPr>
          <p:cNvPr id="201" name="Рисунок 200"/>
          <p:cNvPicPr>
            <a:picLocks noChangeAspect="1"/>
          </p:cNvPicPr>
          <p:nvPr/>
        </p:nvPicPr>
        <p:blipFill>
          <a:blip r:embed="rId4"/>
          <a:srcRect t="17402" b="17402"/>
          <a:stretch>
            <a:fillRect/>
          </a:stretch>
        </p:blipFill>
        <p:spPr>
          <a:xfrm>
            <a:off x="6219825" y="3829050"/>
            <a:ext cx="5095875" cy="2076450"/>
          </a:xfrm>
          <a:prstGeom prst="roundRect">
            <a:avLst>
              <a:gd name="adj" fmla="val 5505"/>
            </a:avLst>
          </a:prstGeom>
        </p:spPr>
      </p:pic>
      <p:sp>
        <p:nvSpPr>
          <p:cNvPr id="172" name="Овал 171">
            <a:extLst>
              <a:ext uri="{FF2B5EF4-FFF2-40B4-BE49-F238E27FC236}">
                <a16:creationId xmlns:a16="http://schemas.microsoft.com/office/drawing/2014/main" id="{DC7F4DA5-9132-44F7-915C-B3BE1996D28C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73" name="Прямоугольник 172">
            <a:extLst>
              <a:ext uri="{FF2B5EF4-FFF2-40B4-BE49-F238E27FC236}">
                <a16:creationId xmlns:a16="http://schemas.microsoft.com/office/drawing/2014/main" id="{BC403B0A-12D5-4E41-BC01-25998A7A91AA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" name="Прямоугольник 173">
            <a:extLst>
              <a:ext uri="{FF2B5EF4-FFF2-40B4-BE49-F238E27FC236}">
                <a16:creationId xmlns:a16="http://schemas.microsoft.com/office/drawing/2014/main" id="{79E5C469-C843-43D3-ACDB-F3ACE86840C9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Как создаётся ученический продукт</a:t>
            </a:r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61CE3A52-98CA-485C-AED0-5201C7FA1CFD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Материалы ведут команду от проектного вопроса к маршруту для другого ученика.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4AE2E16D-DA27-4726-814F-71B9983F5038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77" name="Прямая соединительная линия 176">
            <a:extLst>
              <a:ext uri="{FF2B5EF4-FFF2-40B4-BE49-F238E27FC236}">
                <a16:creationId xmlns:a16="http://schemas.microsoft.com/office/drawing/2014/main" id="{11EAB8EB-ED55-4C9D-9BCF-A2DF7E81A395}"/>
              </a:ext>
            </a:extLst>
          </p:cNvPr>
          <p:cNvSpPr>
            <a:spLocks noGrp="1"/>
          </p:cNvSpPr>
          <p:nvPr/>
        </p:nvSpPr>
        <p:spPr>
          <a:xfrm>
            <a:off x="962025" y="2743200"/>
            <a:ext cx="0" cy="2781300"/>
          </a:xfrm>
          <a:prstGeom prst="line">
            <a:avLst/>
          </a:prstGeom>
          <a:noFill/>
          <a:ln w="38100">
            <a:solidFill>
              <a:srgbClr val="7AC943"/>
            </a:solidFill>
            <a:prstDash val="solid"/>
          </a:ln>
        </p:spPr>
      </p:sp>
      <p:sp>
        <p:nvSpPr>
          <p:cNvPr id="178" name="Овал 177">
            <a:extLst>
              <a:ext uri="{FF2B5EF4-FFF2-40B4-BE49-F238E27FC236}">
                <a16:creationId xmlns:a16="http://schemas.microsoft.com/office/drawing/2014/main" id="{F43B39E0-7104-4A0E-9981-1BF52CA2089C}"/>
              </a:ext>
            </a:extLst>
          </p:cNvPr>
          <p:cNvSpPr>
            <a:spLocks noGrp="1"/>
          </p:cNvSpPr>
          <p:nvPr/>
        </p:nvSpPr>
        <p:spPr>
          <a:xfrm>
            <a:off x="723900" y="25336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1CA50C67-8667-411A-83CF-CE36D591C77F}"/>
              </a:ext>
            </a:extLst>
          </p:cNvPr>
          <p:cNvSpPr>
            <a:spLocks noGrp="1"/>
          </p:cNvSpPr>
          <p:nvPr/>
        </p:nvSpPr>
        <p:spPr>
          <a:xfrm>
            <a:off x="723900" y="25336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AE900F94-2911-403F-9023-FAE058E69DD9}"/>
              </a:ext>
            </a:extLst>
          </p:cNvPr>
          <p:cNvSpPr>
            <a:spLocks noGrp="1"/>
          </p:cNvSpPr>
          <p:nvPr/>
        </p:nvSpPr>
        <p:spPr>
          <a:xfrm>
            <a:off x="1419225" y="24288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Проектный кейс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84261FFE-4F7B-435D-8A49-BBF3279A42A0}"/>
              </a:ext>
            </a:extLst>
          </p:cNvPr>
          <p:cNvSpPr>
            <a:spLocks noGrp="1"/>
          </p:cNvSpPr>
          <p:nvPr/>
        </p:nvSpPr>
        <p:spPr>
          <a:xfrm>
            <a:off x="1419225" y="27527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Команда получает роль, заказчика и критерии готовности</a:t>
            </a:r>
          </a:p>
        </p:txBody>
      </p:sp>
      <p:sp>
        <p:nvSpPr>
          <p:cNvPr id="182" name="Овал 181">
            <a:extLst>
              <a:ext uri="{FF2B5EF4-FFF2-40B4-BE49-F238E27FC236}">
                <a16:creationId xmlns:a16="http://schemas.microsoft.com/office/drawing/2014/main" id="{246110CC-14DA-4CD1-966F-5841B10CAED1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133E365E-4E43-4C2B-AE0F-FBABBA5B97EE}"/>
              </a:ext>
            </a:extLst>
          </p:cNvPr>
          <p:cNvSpPr>
            <a:spLocks noGrp="1"/>
          </p:cNvSpPr>
          <p:nvPr/>
        </p:nvSpPr>
        <p:spPr>
          <a:xfrm>
            <a:off x="723900" y="34099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882AF6DD-5EF8-4625-9A73-9B44A404C0AE}"/>
              </a:ext>
            </a:extLst>
          </p:cNvPr>
          <p:cNvSpPr>
            <a:spLocks noGrp="1"/>
          </p:cNvSpPr>
          <p:nvPr/>
        </p:nvSpPr>
        <p:spPr>
          <a:xfrm>
            <a:off x="1419225" y="33051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A7307653-1B2F-47CB-A8DE-740DCEABC52E}"/>
              </a:ext>
            </a:extLst>
          </p:cNvPr>
          <p:cNvSpPr>
            <a:spLocks noGrp="1"/>
          </p:cNvSpPr>
          <p:nvPr/>
        </p:nvSpPr>
        <p:spPr>
          <a:xfrm>
            <a:off x="1419225" y="36290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Фиксирует стратегии, данные попыток, ошибки и проверку ИИ</a:t>
            </a:r>
          </a:p>
        </p:txBody>
      </p:sp>
      <p:sp>
        <p:nvSpPr>
          <p:cNvPr id="186" name="Овал 185">
            <a:extLst>
              <a:ext uri="{FF2B5EF4-FFF2-40B4-BE49-F238E27FC236}">
                <a16:creationId xmlns:a16="http://schemas.microsoft.com/office/drawing/2014/main" id="{40054653-61E4-425E-9B91-85D45430A8EB}"/>
              </a:ext>
            </a:extLst>
          </p:cNvPr>
          <p:cNvSpPr>
            <a:spLocks noGrp="1"/>
          </p:cNvSpPr>
          <p:nvPr/>
        </p:nvSpPr>
        <p:spPr>
          <a:xfrm>
            <a:off x="723900" y="42862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87" name="Прямоугольник 186">
            <a:extLst>
              <a:ext uri="{FF2B5EF4-FFF2-40B4-BE49-F238E27FC236}">
                <a16:creationId xmlns:a16="http://schemas.microsoft.com/office/drawing/2014/main" id="{C4C181C5-ECA7-4A07-8811-C80C49311C79}"/>
              </a:ext>
            </a:extLst>
          </p:cNvPr>
          <p:cNvSpPr>
            <a:spLocks noGrp="1"/>
          </p:cNvSpPr>
          <p:nvPr/>
        </p:nvSpPr>
        <p:spPr>
          <a:xfrm>
            <a:off x="723900" y="42862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8" name="Прямоугольник 187">
            <a:extLst>
              <a:ext uri="{FF2B5EF4-FFF2-40B4-BE49-F238E27FC236}">
                <a16:creationId xmlns:a16="http://schemas.microsoft.com/office/drawing/2014/main" id="{66A4A368-C1B5-4D5B-B0B0-C2C9371E76B8}"/>
              </a:ext>
            </a:extLst>
          </p:cNvPr>
          <p:cNvSpPr>
            <a:spLocks noGrp="1"/>
          </p:cNvSpPr>
          <p:nvPr/>
        </p:nvSpPr>
        <p:spPr>
          <a:xfrm>
            <a:off x="1419225" y="41814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189" name="Прямоугольник 188">
            <a:extLst>
              <a:ext uri="{FF2B5EF4-FFF2-40B4-BE49-F238E27FC236}">
                <a16:creationId xmlns:a16="http://schemas.microsoft.com/office/drawing/2014/main" id="{15DDEF11-CD54-48DD-B667-8F4C6EE65213}"/>
              </a:ext>
            </a:extLst>
          </p:cNvPr>
          <p:cNvSpPr>
            <a:spLocks noGrp="1"/>
          </p:cNvSpPr>
          <p:nvPr/>
        </p:nvSpPr>
        <p:spPr>
          <a:xfrm>
            <a:off x="1419225" y="45053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Собирает условия выбора, доказательство и карту ошибок</a:t>
            </a:r>
          </a:p>
        </p:txBody>
      </p:sp>
      <p:sp>
        <p:nvSpPr>
          <p:cNvPr id="190" name="Овал 189">
            <a:extLst>
              <a:ext uri="{FF2B5EF4-FFF2-40B4-BE49-F238E27FC236}">
                <a16:creationId xmlns:a16="http://schemas.microsoft.com/office/drawing/2014/main" id="{B3AB8A4E-F6CB-4808-B6D1-AB0C4CEA1CA5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476250" cy="47625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191" name="Прямоугольник 190">
            <a:extLst>
              <a:ext uri="{FF2B5EF4-FFF2-40B4-BE49-F238E27FC236}">
                <a16:creationId xmlns:a16="http://schemas.microsoft.com/office/drawing/2014/main" id="{8076511E-7723-4017-910A-63C3A5A49630}"/>
              </a:ext>
            </a:extLst>
          </p:cNvPr>
          <p:cNvSpPr>
            <a:spLocks noGrp="1"/>
          </p:cNvSpPr>
          <p:nvPr/>
        </p:nvSpPr>
        <p:spPr>
          <a:xfrm>
            <a:off x="723900" y="5162550"/>
            <a:ext cx="47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2" name="Прямоугольник 191">
            <a:extLst>
              <a:ext uri="{FF2B5EF4-FFF2-40B4-BE49-F238E27FC236}">
                <a16:creationId xmlns:a16="http://schemas.microsoft.com/office/drawing/2014/main" id="{9B819CE7-8AE7-4B56-A6ED-FD6C466CB5FB}"/>
              </a:ext>
            </a:extLst>
          </p:cNvPr>
          <p:cNvSpPr>
            <a:spLocks noGrp="1"/>
          </p:cNvSpPr>
          <p:nvPr/>
        </p:nvSpPr>
        <p:spPr>
          <a:xfrm>
            <a:off x="1419225" y="5057775"/>
            <a:ext cx="4095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Перекрёстная проверка</a:t>
            </a:r>
          </a:p>
        </p:txBody>
      </p: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4758C264-F7FA-4F41-B056-A86DB30B26F3}"/>
              </a:ext>
            </a:extLst>
          </p:cNvPr>
          <p:cNvSpPr>
            <a:spLocks noGrp="1"/>
          </p:cNvSpPr>
          <p:nvPr/>
        </p:nvSpPr>
        <p:spPr>
          <a:xfrm>
            <a:off x="1419225" y="5381625"/>
            <a:ext cx="4286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Другая команда применяет маршрут без устных пояснений</a:t>
            </a:r>
          </a:p>
        </p:txBody>
      </p:sp>
      <p:sp>
        <p:nvSpPr>
          <p:cNvPr id="194" name="Прямоугольник: скругленные углы 193">
            <a:extLst>
              <a:ext uri="{FF2B5EF4-FFF2-40B4-BE49-F238E27FC236}">
                <a16:creationId xmlns:a16="http://schemas.microsoft.com/office/drawing/2014/main" id="{B94973C0-0D6A-44DC-B588-00508DDD1896}"/>
              </a:ext>
            </a:extLst>
          </p:cNvPr>
          <p:cNvSpPr>
            <a:spLocks noGrp="1"/>
          </p:cNvSpPr>
          <p:nvPr/>
        </p:nvSpPr>
        <p:spPr>
          <a:xfrm>
            <a:off x="6267450" y="2428875"/>
            <a:ext cx="5286375" cy="1228725"/>
          </a:xfrm>
          <a:prstGeom prst="roundRect">
            <a:avLst>
              <a:gd name="adj" fmla="val 7752"/>
            </a:avLst>
          </a:prstGeom>
          <a:solidFill>
            <a:srgbClr val="EAF6DF"/>
          </a:solidFill>
          <a:ln w="9525">
            <a:solidFill>
              <a:srgbClr val="7AC943"/>
            </a:solidFill>
            <a:prstDash val="solid"/>
          </a:ln>
        </p:spPr>
      </p:sp>
      <p:sp>
        <p:nvSpPr>
          <p:cNvPr id="195" name="Прямоугольник 194">
            <a:extLst>
              <a:ext uri="{FF2B5EF4-FFF2-40B4-BE49-F238E27FC236}">
                <a16:creationId xmlns:a16="http://schemas.microsoft.com/office/drawing/2014/main" id="{2BA43A70-24AA-47BC-874F-5A024CE7F2D7}"/>
              </a:ext>
            </a:extLst>
          </p:cNvPr>
          <p:cNvSpPr>
            <a:spLocks noGrp="1"/>
          </p:cNvSpPr>
          <p:nvPr/>
        </p:nvSpPr>
        <p:spPr>
          <a:xfrm>
            <a:off x="6534150" y="2552700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87C3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87C38"/>
                </a:solidFill>
                <a:latin typeface="Arial"/>
                <a:ea typeface="Arial"/>
                <a:cs typeface="Arial"/>
              </a:rPr>
              <a:t>Тренажёр внутри процесса</a:t>
            </a:r>
          </a:p>
        </p:txBody>
      </p:sp>
      <p:sp>
        <p:nvSpPr>
          <p:cNvPr id="196" name="Прямоугольник 195">
            <a:extLst>
              <a:ext uri="{FF2B5EF4-FFF2-40B4-BE49-F238E27FC236}">
                <a16:creationId xmlns:a16="http://schemas.microsoft.com/office/drawing/2014/main" id="{4CAE0554-5899-4338-BEC2-A970B9844EA2}"/>
              </a:ext>
            </a:extLst>
          </p:cNvPr>
          <p:cNvSpPr>
            <a:spLocks noGrp="1"/>
          </p:cNvSpPr>
          <p:nvPr/>
        </p:nvSpPr>
        <p:spPr>
          <a:xfrm>
            <a:off x="6534150" y="2914650"/>
            <a:ext cx="4762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Показывает отдельный шаг, сохраняет данные попытки и помогает проверить гипотезу. Объяснение и маршрут формулируют ученики.</a:t>
            </a:r>
          </a:p>
        </p:txBody>
      </p:sp>
      <p:sp>
        <p:nvSpPr>
          <p:cNvPr id="3" name="Google Shape;162;p9">
            <a:extLst>
              <a:ext uri="{FF2B5EF4-FFF2-40B4-BE49-F238E27FC236}">
                <a16:creationId xmlns:a16="http://schemas.microsoft.com/office/drawing/2014/main" id="{B4918735-5748-034F-C8CE-CD5E880B5908}"/>
              </a:ext>
            </a:extLst>
          </p:cNvPr>
          <p:cNvSpPr/>
          <p:nvPr/>
        </p:nvSpPr>
        <p:spPr>
          <a:xfrm>
            <a:off x="6095880" y="5900862"/>
            <a:ext cx="4278600" cy="59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 anchorCtr="0">
            <a:noAutofit/>
          </a:bodyPr>
          <a:lstStyle/>
          <a:p>
            <a:pPr lvl="0"/>
            <a:r>
              <a:rPr lang="ru-RU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🔗  [</a:t>
            </a:r>
            <a:r>
              <a:rPr lang="en-US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50" dirty="0">
                <a:solidFill>
                  <a:srgbClr val="0F0F0F"/>
                </a:solidFill>
                <a:ea typeface="Arial"/>
                <a:cs typeface="Arial"/>
                <a:sym typeface="Arial"/>
                <a:hlinkClick r:id="rId5"/>
              </a:rPr>
              <a:t>https://clck.ru/3Vv6Es</a:t>
            </a:r>
            <a:r>
              <a:rPr lang="en-US" sz="1350" dirty="0">
                <a:solidFill>
                  <a:srgbClr val="0F0F0F"/>
                </a:solidFill>
                <a:ea typeface="Arial"/>
                <a:cs typeface="Arial"/>
                <a:sym typeface="Arial"/>
              </a:rPr>
              <a:t> </a:t>
            </a:r>
            <a:r>
              <a:rPr lang="ru-RU" sz="1350" b="0" u="none" strike="noStrike" dirty="0">
                <a:solidFill>
                  <a:srgbClr val="0F0F0F"/>
                </a:solidFill>
                <a:latin typeface="Arial"/>
                <a:ea typeface="Arial"/>
                <a:cs typeface="Arial"/>
                <a:sym typeface="Arial"/>
              </a:rPr>
              <a:t>]</a:t>
            </a:r>
            <a:endParaRPr sz="1350" b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831A414-4390-FB8A-2A00-0DAADC1AD3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8158" y="5381625"/>
            <a:ext cx="1267185" cy="126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783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174;p10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202" name="Овал 201">
            <a:extLst>
              <a:ext uri="{FF2B5EF4-FFF2-40B4-BE49-F238E27FC236}">
                <a16:creationId xmlns:a16="http://schemas.microsoft.com/office/drawing/2014/main" id="{1A6DF391-F874-49F7-8CF3-E7E67E95E183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2AC9F538-9522-4F1D-BB74-61CC70013ED6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04" name="Прямоугольник 203">
            <a:extLst>
              <a:ext uri="{FF2B5EF4-FFF2-40B4-BE49-F238E27FC236}">
                <a16:creationId xmlns:a16="http://schemas.microsoft.com/office/drawing/2014/main" id="{F2298184-D32F-4A31-B640-5DCF91CF3A85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Контроль и оценивание</a:t>
            </a:r>
          </a:p>
        </p:txBody>
      </p:sp>
      <p:sp>
        <p:nvSpPr>
          <p:cNvPr id="205" name="Прямоугольник 204">
            <a:extLst>
              <a:ext uri="{FF2B5EF4-FFF2-40B4-BE49-F238E27FC236}">
                <a16:creationId xmlns:a16="http://schemas.microsoft.com/office/drawing/2014/main" id="{F9007A6B-17C9-4B9E-AE54-0A87A7988272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КИМы проверяют индивидуальный перенос, рубрикатор оценивает качество командного продукта.</a:t>
            </a:r>
          </a:p>
        </p:txBody>
      </p:sp>
      <p:sp>
        <p:nvSpPr>
          <p:cNvPr id="206" name="Прямоугольник 205">
            <a:extLst>
              <a:ext uri="{FF2B5EF4-FFF2-40B4-BE49-F238E27FC236}">
                <a16:creationId xmlns:a16="http://schemas.microsoft.com/office/drawing/2014/main" id="{F9851FFF-813A-4B3D-8717-A14A49B6064C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07" name="Прямоугольник: скругленные углы 206">
            <a:extLst>
              <a:ext uri="{FF2B5EF4-FFF2-40B4-BE49-F238E27FC236}">
                <a16:creationId xmlns:a16="http://schemas.microsoft.com/office/drawing/2014/main" id="{A4965951-0507-453D-AE5F-133C08E8E7CD}"/>
              </a:ext>
            </a:extLst>
          </p:cNvPr>
          <p:cNvSpPr>
            <a:spLocks noGrp="1"/>
          </p:cNvSpPr>
          <p:nvPr/>
        </p:nvSpPr>
        <p:spPr>
          <a:xfrm>
            <a:off x="638175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08" name="Овал 207">
            <a:extLst>
              <a:ext uri="{FF2B5EF4-FFF2-40B4-BE49-F238E27FC236}">
                <a16:creationId xmlns:a16="http://schemas.microsoft.com/office/drawing/2014/main" id="{A18BA6B7-0B82-4A6C-B124-953E7AF17F0B}"/>
              </a:ext>
            </a:extLst>
          </p:cNvPr>
          <p:cNvSpPr>
            <a:spLocks noGrp="1"/>
          </p:cNvSpPr>
          <p:nvPr/>
        </p:nvSpPr>
        <p:spPr>
          <a:xfrm>
            <a:off x="828675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09" name="Прямоугольник 208">
            <a:extLst>
              <a:ext uri="{FF2B5EF4-FFF2-40B4-BE49-F238E27FC236}">
                <a16:creationId xmlns:a16="http://schemas.microsoft.com/office/drawing/2014/main" id="{D80289B9-BE8A-41F8-A5A1-3FA384BF2CB7}"/>
              </a:ext>
            </a:extLst>
          </p:cNvPr>
          <p:cNvSpPr>
            <a:spLocks noGrp="1"/>
          </p:cNvSpPr>
          <p:nvPr/>
        </p:nvSpPr>
        <p:spPr>
          <a:xfrm>
            <a:off x="828675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0" name="Прямоугольник 209">
            <a:extLst>
              <a:ext uri="{FF2B5EF4-FFF2-40B4-BE49-F238E27FC236}">
                <a16:creationId xmlns:a16="http://schemas.microsoft.com/office/drawing/2014/main" id="{CAD57168-3813-4ADD-A86C-A450A3D5F4B8}"/>
              </a:ext>
            </a:extLst>
          </p:cNvPr>
          <p:cNvSpPr>
            <a:spLocks noGrp="1"/>
          </p:cNvSpPr>
          <p:nvPr/>
        </p:nvSpPr>
        <p:spPr>
          <a:xfrm>
            <a:off x="828675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Входной мини-тест</a:t>
            </a:r>
          </a:p>
        </p:txBody>
      </p:sp>
      <p:sp>
        <p:nvSpPr>
          <p:cNvPr id="211" name="Прямоугольник 210">
            <a:extLst>
              <a:ext uri="{FF2B5EF4-FFF2-40B4-BE49-F238E27FC236}">
                <a16:creationId xmlns:a16="http://schemas.microsoft.com/office/drawing/2014/main" id="{DFA1471B-D962-474A-ABFA-3A0C5F41CBC6}"/>
              </a:ext>
            </a:extLst>
          </p:cNvPr>
          <p:cNvSpPr>
            <a:spLocks noGrp="1"/>
          </p:cNvSpPr>
          <p:nvPr/>
        </p:nvSpPr>
        <p:spPr>
          <a:xfrm>
            <a:off x="828675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Индивидуально, 5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Механика команды и выбор стратегии</a:t>
            </a:r>
          </a:p>
        </p:txBody>
      </p:sp>
      <p:sp>
        <p:nvSpPr>
          <p:cNvPr id="212" name="Прямоугольник: скругленные углы 211">
            <a:extLst>
              <a:ext uri="{FF2B5EF4-FFF2-40B4-BE49-F238E27FC236}">
                <a16:creationId xmlns:a16="http://schemas.microsoft.com/office/drawing/2014/main" id="{7A815559-E0A3-4827-B08E-9356E25D22F8}"/>
              </a:ext>
            </a:extLst>
          </p:cNvPr>
          <p:cNvSpPr>
            <a:spLocks noGrp="1"/>
          </p:cNvSpPr>
          <p:nvPr/>
        </p:nvSpPr>
        <p:spPr>
          <a:xfrm>
            <a:off x="3371850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13" name="Овал 212">
            <a:extLst>
              <a:ext uri="{FF2B5EF4-FFF2-40B4-BE49-F238E27FC236}">
                <a16:creationId xmlns:a16="http://schemas.microsoft.com/office/drawing/2014/main" id="{412D75B7-A8C1-4D96-9951-29FA272C0961}"/>
              </a:ext>
            </a:extLst>
          </p:cNvPr>
          <p:cNvSpPr>
            <a:spLocks noGrp="1"/>
          </p:cNvSpPr>
          <p:nvPr/>
        </p:nvSpPr>
        <p:spPr>
          <a:xfrm>
            <a:off x="3562350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14" name="Прямоугольник 213">
            <a:extLst>
              <a:ext uri="{FF2B5EF4-FFF2-40B4-BE49-F238E27FC236}">
                <a16:creationId xmlns:a16="http://schemas.microsoft.com/office/drawing/2014/main" id="{F402F69A-8A73-453C-8826-CE5CB20E67BC}"/>
              </a:ext>
            </a:extLst>
          </p:cNvPr>
          <p:cNvSpPr>
            <a:spLocks noGrp="1"/>
          </p:cNvSpPr>
          <p:nvPr/>
        </p:nvSpPr>
        <p:spPr>
          <a:xfrm>
            <a:off x="3562350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36142A61-AB8B-40F0-937B-8E6AE0B1D3C1}"/>
              </a:ext>
            </a:extLst>
          </p:cNvPr>
          <p:cNvSpPr>
            <a:spLocks noGrp="1"/>
          </p:cNvSpPr>
          <p:nvPr/>
        </p:nvSpPr>
        <p:spPr>
          <a:xfrm>
            <a:off x="3562350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Практический кейс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9E4E0CF1-22A2-48C5-AAAA-8D4BA776565F}"/>
              </a:ext>
            </a:extLst>
          </p:cNvPr>
          <p:cNvSpPr>
            <a:spLocks noGrp="1"/>
          </p:cNvSpPr>
          <p:nvPr/>
        </p:nvSpPr>
        <p:spPr>
          <a:xfrm>
            <a:off x="3562350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Командно, 5-7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Три ошибки в готовом объяснении</a:t>
            </a:r>
          </a:p>
        </p:txBody>
      </p:sp>
      <p:sp>
        <p:nvSpPr>
          <p:cNvPr id="217" name="Прямоугольник: скругленные углы 216">
            <a:extLst>
              <a:ext uri="{FF2B5EF4-FFF2-40B4-BE49-F238E27FC236}">
                <a16:creationId xmlns:a16="http://schemas.microsoft.com/office/drawing/2014/main" id="{350779D2-CE4E-44B9-A715-AFFE5F185148}"/>
              </a:ext>
            </a:extLst>
          </p:cNvPr>
          <p:cNvSpPr>
            <a:spLocks noGrp="1"/>
          </p:cNvSpPr>
          <p:nvPr/>
        </p:nvSpPr>
        <p:spPr>
          <a:xfrm>
            <a:off x="6105525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18" name="Овал 217">
            <a:extLst>
              <a:ext uri="{FF2B5EF4-FFF2-40B4-BE49-F238E27FC236}">
                <a16:creationId xmlns:a16="http://schemas.microsoft.com/office/drawing/2014/main" id="{ACA6C78A-2A01-4B7A-89E8-A6BCAE469A3E}"/>
              </a:ext>
            </a:extLst>
          </p:cNvPr>
          <p:cNvSpPr>
            <a:spLocks noGrp="1"/>
          </p:cNvSpPr>
          <p:nvPr/>
        </p:nvSpPr>
        <p:spPr>
          <a:xfrm>
            <a:off x="6296025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304DC57E-7901-41F6-8353-8535A8E96C81}"/>
              </a:ext>
            </a:extLst>
          </p:cNvPr>
          <p:cNvSpPr>
            <a:spLocks noGrp="1"/>
          </p:cNvSpPr>
          <p:nvPr/>
        </p:nvSpPr>
        <p:spPr>
          <a:xfrm>
            <a:off x="6296025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B4B5C3DB-8B1A-49F5-92A8-5E7960D4070F}"/>
              </a:ext>
            </a:extLst>
          </p:cNvPr>
          <p:cNvSpPr>
            <a:spLocks noGrp="1"/>
          </p:cNvSpPr>
          <p:nvPr/>
        </p:nvSpPr>
        <p:spPr>
          <a:xfrm>
            <a:off x="6296025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Итоговая задача</a:t>
            </a:r>
          </a:p>
        </p:txBody>
      </p:sp>
      <p:sp>
        <p:nvSpPr>
          <p:cNvPr id="221" name="Прямоугольник 220">
            <a:extLst>
              <a:ext uri="{FF2B5EF4-FFF2-40B4-BE49-F238E27FC236}">
                <a16:creationId xmlns:a16="http://schemas.microsoft.com/office/drawing/2014/main" id="{540A4E1D-33E2-45D3-9363-065D9A84CCCE}"/>
              </a:ext>
            </a:extLst>
          </p:cNvPr>
          <p:cNvSpPr>
            <a:spLocks noGrp="1"/>
          </p:cNvSpPr>
          <p:nvPr/>
        </p:nvSpPr>
        <p:spPr>
          <a:xfrm>
            <a:off x="6296025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Индивидуально, 3-5 минут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Варианты А и Б без подсказок</a:t>
            </a:r>
          </a:p>
        </p:txBody>
      </p:sp>
      <p:sp>
        <p:nvSpPr>
          <p:cNvPr id="222" name="Прямоугольник: скругленные углы 221">
            <a:extLst>
              <a:ext uri="{FF2B5EF4-FFF2-40B4-BE49-F238E27FC236}">
                <a16:creationId xmlns:a16="http://schemas.microsoft.com/office/drawing/2014/main" id="{08F14083-9FB1-4B1C-9B47-130B70987497}"/>
              </a:ext>
            </a:extLst>
          </p:cNvPr>
          <p:cNvSpPr>
            <a:spLocks noGrp="1"/>
          </p:cNvSpPr>
          <p:nvPr/>
        </p:nvSpPr>
        <p:spPr>
          <a:xfrm>
            <a:off x="8839200" y="2562225"/>
            <a:ext cx="2457450" cy="2057400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23" name="Овал 222">
            <a:extLst>
              <a:ext uri="{FF2B5EF4-FFF2-40B4-BE49-F238E27FC236}">
                <a16:creationId xmlns:a16="http://schemas.microsoft.com/office/drawing/2014/main" id="{2ED4AC1F-9F64-4494-BDD1-853C9E3157CB}"/>
              </a:ext>
            </a:extLst>
          </p:cNvPr>
          <p:cNvSpPr>
            <a:spLocks noGrp="1"/>
          </p:cNvSpPr>
          <p:nvPr/>
        </p:nvSpPr>
        <p:spPr>
          <a:xfrm>
            <a:off x="9029700" y="2733675"/>
            <a:ext cx="419100" cy="419100"/>
          </a:xfrm>
          <a:prstGeom prst="ellipse">
            <a:avLst/>
          </a:prstGeom>
          <a:solidFill>
            <a:srgbClr val="111111"/>
          </a:solidFill>
          <a:ln w="0">
            <a:noFill/>
          </a:ln>
        </p:spPr>
      </p:sp>
      <p:sp>
        <p:nvSpPr>
          <p:cNvPr id="224" name="Прямоугольник 223">
            <a:extLst>
              <a:ext uri="{FF2B5EF4-FFF2-40B4-BE49-F238E27FC236}">
                <a16:creationId xmlns:a16="http://schemas.microsoft.com/office/drawing/2014/main" id="{9091DEEC-9532-4F6B-91A6-E6F782B11DD7}"/>
              </a:ext>
            </a:extLst>
          </p:cNvPr>
          <p:cNvSpPr>
            <a:spLocks noGrp="1"/>
          </p:cNvSpPr>
          <p:nvPr/>
        </p:nvSpPr>
        <p:spPr>
          <a:xfrm>
            <a:off x="9029700" y="2733675"/>
            <a:ext cx="4191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5" name="Прямоугольник 224">
            <a:extLst>
              <a:ext uri="{FF2B5EF4-FFF2-40B4-BE49-F238E27FC236}">
                <a16:creationId xmlns:a16="http://schemas.microsoft.com/office/drawing/2014/main" id="{E2D0EC81-6794-412F-B38F-B7BD831F3D2B}"/>
              </a:ext>
            </a:extLst>
          </p:cNvPr>
          <p:cNvSpPr>
            <a:spLocks noGrp="1"/>
          </p:cNvSpPr>
          <p:nvPr/>
        </p:nvSpPr>
        <p:spPr>
          <a:xfrm>
            <a:off x="9029700" y="3276600"/>
            <a:ext cx="2076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Экспертиза маршрута</a:t>
            </a:r>
          </a:p>
        </p:txBody>
      </p:sp>
      <p:sp>
        <p:nvSpPr>
          <p:cNvPr id="226" name="Прямоугольник 225">
            <a:extLst>
              <a:ext uri="{FF2B5EF4-FFF2-40B4-BE49-F238E27FC236}">
                <a16:creationId xmlns:a16="http://schemas.microsoft.com/office/drawing/2014/main" id="{D74ED913-B6C9-449D-BE65-BB5EFA1BD21E}"/>
              </a:ext>
            </a:extLst>
          </p:cNvPr>
          <p:cNvSpPr>
            <a:spLocks noGrp="1"/>
          </p:cNvSpPr>
          <p:nvPr/>
        </p:nvSpPr>
        <p:spPr>
          <a:xfrm>
            <a:off x="9029700" y="3848100"/>
            <a:ext cx="20764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Рубрикатор 0-15</a:t>
            </a:r>
          </a:p>
          <a:p>
            <a:pPr algn="l">
              <a:lnSpc>
                <a:spcPct val="100000"/>
              </a:lnSpc>
              <a:buNone/>
              <a:defRPr sz="1200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Пять наблюдаемых критериев</a:t>
            </a:r>
          </a:p>
        </p:txBody>
      </p:sp>
      <p:sp>
        <p:nvSpPr>
          <p:cNvPr id="227" name="Прямоугольник: скругленные углы 226">
            <a:extLst>
              <a:ext uri="{FF2B5EF4-FFF2-40B4-BE49-F238E27FC236}">
                <a16:creationId xmlns:a16="http://schemas.microsoft.com/office/drawing/2014/main" id="{44DA4ADC-4648-4003-B8F4-6704F694E457}"/>
              </a:ext>
            </a:extLst>
          </p:cNvPr>
          <p:cNvSpPr>
            <a:spLocks noGrp="1"/>
          </p:cNvSpPr>
          <p:nvPr/>
        </p:nvSpPr>
        <p:spPr>
          <a:xfrm>
            <a:off x="638175" y="5010150"/>
            <a:ext cx="10915650" cy="1057275"/>
          </a:xfrm>
          <a:prstGeom prst="roundRect">
            <a:avLst>
              <a:gd name="adj" fmla="val 9009"/>
            </a:avLst>
          </a:prstGeom>
          <a:noFill/>
          <a:ln w="0">
            <a:noFill/>
          </a:ln>
        </p:spPr>
      </p:sp>
      <p:sp>
        <p:nvSpPr>
          <p:cNvPr id="228" name="Прямоугольник 227">
            <a:extLst>
              <a:ext uri="{FF2B5EF4-FFF2-40B4-BE49-F238E27FC236}">
                <a16:creationId xmlns:a16="http://schemas.microsoft.com/office/drawing/2014/main" id="{2C095F33-1E50-48A6-92A5-0A19875E1B0B}"/>
              </a:ext>
            </a:extLst>
          </p:cNvPr>
          <p:cNvSpPr>
            <a:spLocks noGrp="1"/>
          </p:cNvSpPr>
          <p:nvPr/>
        </p:nvSpPr>
        <p:spPr>
          <a:xfrm>
            <a:off x="895350" y="5153025"/>
            <a:ext cx="2190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Пилотные ориентиры</a:t>
            </a:r>
          </a:p>
        </p:txBody>
      </p: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8BB2322F-5CFD-45A2-A09E-BC9ACBFC0F7C}"/>
              </a:ext>
            </a:extLst>
          </p:cNvPr>
          <p:cNvSpPr>
            <a:spLocks noGrp="1"/>
          </p:cNvSpPr>
          <p:nvPr/>
        </p:nvSpPr>
        <p:spPr>
          <a:xfrm>
            <a:off x="3257550" y="5124450"/>
            <a:ext cx="1047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≥80%</a:t>
            </a:r>
          </a:p>
        </p:txBody>
      </p:sp>
      <p:sp>
        <p:nvSpPr>
          <p:cNvPr id="230" name="Прямоугольник 229">
            <a:extLst>
              <a:ext uri="{FF2B5EF4-FFF2-40B4-BE49-F238E27FC236}">
                <a16:creationId xmlns:a16="http://schemas.microsoft.com/office/drawing/2014/main" id="{0146ADDE-D3DB-43BA-B636-A9A457324FEC}"/>
              </a:ext>
            </a:extLst>
          </p:cNvPr>
          <p:cNvSpPr>
            <a:spLocks noGrp="1"/>
          </p:cNvSpPr>
          <p:nvPr/>
        </p:nvSpPr>
        <p:spPr>
          <a:xfrm>
            <a:off x="4381500" y="5143500"/>
            <a:ext cx="2476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решают итоговую задачу</a:t>
            </a:r>
          </a:p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без подсказок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B7DD18A0-0D36-43F8-A7C6-0CF0A7341F28}"/>
              </a:ext>
            </a:extLst>
          </p:cNvPr>
          <p:cNvSpPr>
            <a:spLocks noGrp="1"/>
          </p:cNvSpPr>
          <p:nvPr/>
        </p:nvSpPr>
        <p:spPr>
          <a:xfrm>
            <a:off x="7124700" y="5124450"/>
            <a:ext cx="1047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3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≥75%</a:t>
            </a:r>
          </a:p>
        </p:txBody>
      </p:sp>
      <p:sp>
        <p:nvSpPr>
          <p:cNvPr id="232" name="Прямоугольник 231">
            <a:extLst>
              <a:ext uri="{FF2B5EF4-FFF2-40B4-BE49-F238E27FC236}">
                <a16:creationId xmlns:a16="http://schemas.microsoft.com/office/drawing/2014/main" id="{E3AB4CFA-9642-4BE1-AB6A-339484F6EA70}"/>
              </a:ext>
            </a:extLst>
          </p:cNvPr>
          <p:cNvSpPr>
            <a:spLocks noGrp="1"/>
          </p:cNvSpPr>
          <p:nvPr/>
        </p:nvSpPr>
        <p:spPr>
          <a:xfrm>
            <a:off x="8239125" y="5143500"/>
            <a:ext cx="2857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маршрутов применяются</a:t>
            </a:r>
          </a:p>
          <a:p>
            <a:pPr algn="l">
              <a:lnSpc>
                <a:spcPct val="100000"/>
              </a:lnSpc>
              <a:buNone/>
              <a:defRPr sz="1275" b="0">
                <a:solidFill>
                  <a:srgbClr val="25252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252525"/>
                </a:solidFill>
                <a:latin typeface="Arial"/>
                <a:ea typeface="Arial"/>
                <a:cs typeface="Arial"/>
              </a:rPr>
              <a:t>без пояснений авторов</a:t>
            </a:r>
          </a:p>
        </p:txBody>
      </p:sp>
    </p:spTree>
    <p:extLst>
      <p:ext uri="{BB962C8B-B14F-4D97-AF65-F5344CB8AC3E}">
        <p14:creationId xmlns:p14="http://schemas.microsoft.com/office/powerpoint/2010/main" val="340320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05;p1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226" name="Овал 225">
            <a:extLst>
              <a:ext uri="{FF2B5EF4-FFF2-40B4-BE49-F238E27FC236}">
                <a16:creationId xmlns:a16="http://schemas.microsoft.com/office/drawing/2014/main" id="{FC61D891-7277-4191-869C-7D3BDDCF4900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27" name="Прямоугольник 226">
            <a:extLst>
              <a:ext uri="{FF2B5EF4-FFF2-40B4-BE49-F238E27FC236}">
                <a16:creationId xmlns:a16="http://schemas.microsoft.com/office/drawing/2014/main" id="{FA9D8637-A26D-4E15-B5BC-DC170F32EDA3}"/>
              </a:ext>
            </a:extLst>
          </p:cNvPr>
          <p:cNvSpPr>
            <a:spLocks noGrp="1"/>
          </p:cNvSpPr>
          <p:nvPr/>
        </p:nvSpPr>
        <p:spPr>
          <a:xfrm>
            <a:off x="638175" y="11334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28" name="Прямоугольник 227">
            <a:extLst>
              <a:ext uri="{FF2B5EF4-FFF2-40B4-BE49-F238E27FC236}">
                <a16:creationId xmlns:a16="http://schemas.microsoft.com/office/drawing/2014/main" id="{DF96260F-02CD-401B-9841-3635D4D72EC6}"/>
              </a:ext>
            </a:extLst>
          </p:cNvPr>
          <p:cNvSpPr>
            <a:spLocks noGrp="1"/>
          </p:cNvSpPr>
          <p:nvPr/>
        </p:nvSpPr>
        <p:spPr>
          <a:xfrm>
            <a:off x="1276350" y="1104900"/>
            <a:ext cx="9810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Что получает учитель</a:t>
            </a:r>
          </a:p>
        </p:txBody>
      </p: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24F3F758-2A14-40C6-8A48-66BD9A3E886C}"/>
              </a:ext>
            </a:extLst>
          </p:cNvPr>
          <p:cNvSpPr>
            <a:spLocks noGrp="1"/>
          </p:cNvSpPr>
          <p:nvPr/>
        </p:nvSpPr>
        <p:spPr>
          <a:xfrm>
            <a:off x="638175" y="1752600"/>
            <a:ext cx="109156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Готовый комплект для двух уроков и резервных сценариев.</a:t>
            </a:r>
          </a:p>
        </p:txBody>
      </p:sp>
      <p:sp>
        <p:nvSpPr>
          <p:cNvPr id="230" name="Прямоугольник 229">
            <a:extLst>
              <a:ext uri="{FF2B5EF4-FFF2-40B4-BE49-F238E27FC236}">
                <a16:creationId xmlns:a16="http://schemas.microsoft.com/office/drawing/2014/main" id="{6CC17E7A-FC47-41EF-80C6-276E7EA5A5A8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D1D3D8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D1D3D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31" name="Прямоугольник: скругленные углы 230">
            <a:extLst>
              <a:ext uri="{FF2B5EF4-FFF2-40B4-BE49-F238E27FC236}">
                <a16:creationId xmlns:a16="http://schemas.microsoft.com/office/drawing/2014/main" id="{4FC2C1C6-68E5-4EFA-8DF5-18FACF4CF691}"/>
              </a:ext>
            </a:extLst>
          </p:cNvPr>
          <p:cNvSpPr>
            <a:spLocks noGrp="1"/>
          </p:cNvSpPr>
          <p:nvPr/>
        </p:nvSpPr>
        <p:spPr>
          <a:xfrm>
            <a:off x="638175" y="23622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32" name="Овал 231">
            <a:extLst>
              <a:ext uri="{FF2B5EF4-FFF2-40B4-BE49-F238E27FC236}">
                <a16:creationId xmlns:a16="http://schemas.microsoft.com/office/drawing/2014/main" id="{BCC74281-716D-49B3-BBAD-504B7E6A11D3}"/>
              </a:ext>
            </a:extLst>
          </p:cNvPr>
          <p:cNvSpPr>
            <a:spLocks noGrp="1"/>
          </p:cNvSpPr>
          <p:nvPr/>
        </p:nvSpPr>
        <p:spPr>
          <a:xfrm>
            <a:off x="800100" y="25527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33" name="Прямоугольник 232">
            <a:extLst>
              <a:ext uri="{FF2B5EF4-FFF2-40B4-BE49-F238E27FC236}">
                <a16:creationId xmlns:a16="http://schemas.microsoft.com/office/drawing/2014/main" id="{0D1A0F8A-A1A0-4857-9D1B-B3A06A9CADC3}"/>
              </a:ext>
            </a:extLst>
          </p:cNvPr>
          <p:cNvSpPr>
            <a:spLocks noGrp="1"/>
          </p:cNvSpPr>
          <p:nvPr/>
        </p:nvSpPr>
        <p:spPr>
          <a:xfrm>
            <a:off x="800100" y="25527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4" name="Прямоугольник 233">
            <a:extLst>
              <a:ext uri="{FF2B5EF4-FFF2-40B4-BE49-F238E27FC236}">
                <a16:creationId xmlns:a16="http://schemas.microsoft.com/office/drawing/2014/main" id="{514C4126-49D5-4A25-A678-3A88FC3B8702}"/>
              </a:ext>
            </a:extLst>
          </p:cNvPr>
          <p:cNvSpPr>
            <a:spLocks noGrp="1"/>
          </p:cNvSpPr>
          <p:nvPr/>
        </p:nvSpPr>
        <p:spPr>
          <a:xfrm>
            <a:off x="1419225" y="24574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Комплект учителя</a:t>
            </a:r>
          </a:p>
        </p:txBody>
      </p:sp>
      <p:sp>
        <p:nvSpPr>
          <p:cNvPr id="235" name="Прямоугольник 234">
            <a:extLst>
              <a:ext uri="{FF2B5EF4-FFF2-40B4-BE49-F238E27FC236}">
                <a16:creationId xmlns:a16="http://schemas.microsoft.com/office/drawing/2014/main" id="{11C5F74D-7E05-41B4-93D3-C9438032BFAA}"/>
              </a:ext>
            </a:extLst>
          </p:cNvPr>
          <p:cNvSpPr>
            <a:spLocks noGrp="1"/>
          </p:cNvSpPr>
          <p:nvPr/>
        </p:nvSpPr>
        <p:spPr>
          <a:xfrm>
            <a:off x="1419225" y="27717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Ход двух уроков, вопросы, поддержка и резерв</a:t>
            </a:r>
          </a:p>
        </p:txBody>
      </p:sp>
      <p:sp>
        <p:nvSpPr>
          <p:cNvPr id="236" name="Прямоугольник: скругленные углы 235">
            <a:extLst>
              <a:ext uri="{FF2B5EF4-FFF2-40B4-BE49-F238E27FC236}">
                <a16:creationId xmlns:a16="http://schemas.microsoft.com/office/drawing/2014/main" id="{62D2BE89-555A-4A0B-8C84-7D8F29B9ECBA}"/>
              </a:ext>
            </a:extLst>
          </p:cNvPr>
          <p:cNvSpPr>
            <a:spLocks noGrp="1"/>
          </p:cNvSpPr>
          <p:nvPr/>
        </p:nvSpPr>
        <p:spPr>
          <a:xfrm>
            <a:off x="6191250" y="23622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37" name="Овал 236">
            <a:extLst>
              <a:ext uri="{FF2B5EF4-FFF2-40B4-BE49-F238E27FC236}">
                <a16:creationId xmlns:a16="http://schemas.microsoft.com/office/drawing/2014/main" id="{089C1B51-34AC-4604-911A-F7BD377C22E3}"/>
              </a:ext>
            </a:extLst>
          </p:cNvPr>
          <p:cNvSpPr>
            <a:spLocks noGrp="1"/>
          </p:cNvSpPr>
          <p:nvPr/>
        </p:nvSpPr>
        <p:spPr>
          <a:xfrm>
            <a:off x="6353175" y="25527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38" name="Прямоугольник 237">
            <a:extLst>
              <a:ext uri="{FF2B5EF4-FFF2-40B4-BE49-F238E27FC236}">
                <a16:creationId xmlns:a16="http://schemas.microsoft.com/office/drawing/2014/main" id="{A5F4B5CD-5499-4F6C-8263-52C11A32AA8B}"/>
              </a:ext>
            </a:extLst>
          </p:cNvPr>
          <p:cNvSpPr>
            <a:spLocks noGrp="1"/>
          </p:cNvSpPr>
          <p:nvPr/>
        </p:nvSpPr>
        <p:spPr>
          <a:xfrm>
            <a:off x="6353175" y="25527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9" name="Прямоугольник 238">
            <a:extLst>
              <a:ext uri="{FF2B5EF4-FFF2-40B4-BE49-F238E27FC236}">
                <a16:creationId xmlns:a16="http://schemas.microsoft.com/office/drawing/2014/main" id="{F84DFD88-B1E2-4E56-838F-5893ABD63418}"/>
              </a:ext>
            </a:extLst>
          </p:cNvPr>
          <p:cNvSpPr>
            <a:spLocks noGrp="1"/>
          </p:cNvSpPr>
          <p:nvPr/>
        </p:nvSpPr>
        <p:spPr>
          <a:xfrm>
            <a:off x="6972300" y="24574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Проектное задание</a:t>
            </a:r>
          </a:p>
        </p:txBody>
      </p:sp>
      <p:sp>
        <p:nvSpPr>
          <p:cNvPr id="240" name="Прямоугольник 239">
            <a:extLst>
              <a:ext uri="{FF2B5EF4-FFF2-40B4-BE49-F238E27FC236}">
                <a16:creationId xmlns:a16="http://schemas.microsoft.com/office/drawing/2014/main" id="{C33E4600-78B0-4D85-8668-1E69CF1E15B8}"/>
              </a:ext>
            </a:extLst>
          </p:cNvPr>
          <p:cNvSpPr>
            <a:spLocks noGrp="1"/>
          </p:cNvSpPr>
          <p:nvPr/>
        </p:nvSpPr>
        <p:spPr>
          <a:xfrm>
            <a:off x="6972300" y="27717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Роль команды, заказчик, продукт и критерии</a:t>
            </a:r>
          </a:p>
        </p:txBody>
      </p:sp>
      <p:sp>
        <p:nvSpPr>
          <p:cNvPr id="241" name="Прямоугольник: скругленные углы 240">
            <a:extLst>
              <a:ext uri="{FF2B5EF4-FFF2-40B4-BE49-F238E27FC236}">
                <a16:creationId xmlns:a16="http://schemas.microsoft.com/office/drawing/2014/main" id="{13317F84-2850-4C78-9EB4-43D964D3EE1F}"/>
              </a:ext>
            </a:extLst>
          </p:cNvPr>
          <p:cNvSpPr>
            <a:spLocks noGrp="1"/>
          </p:cNvSpPr>
          <p:nvPr/>
        </p:nvSpPr>
        <p:spPr>
          <a:xfrm>
            <a:off x="638175" y="337185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42" name="Овал 241">
            <a:extLst>
              <a:ext uri="{FF2B5EF4-FFF2-40B4-BE49-F238E27FC236}">
                <a16:creationId xmlns:a16="http://schemas.microsoft.com/office/drawing/2014/main" id="{C27F227F-A733-4438-B610-E40CC63279DD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43" name="Прямоугольник 242">
            <a:extLst>
              <a:ext uri="{FF2B5EF4-FFF2-40B4-BE49-F238E27FC236}">
                <a16:creationId xmlns:a16="http://schemas.microsoft.com/office/drawing/2014/main" id="{F2F31CCB-C2F7-428D-918D-8558C95A1F9A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4F2D80C4-4900-40C5-A5E5-7FE3BA89FECB}"/>
              </a:ext>
            </a:extLst>
          </p:cNvPr>
          <p:cNvSpPr>
            <a:spLocks noGrp="1"/>
          </p:cNvSpPr>
          <p:nvPr/>
        </p:nvSpPr>
        <p:spPr>
          <a:xfrm>
            <a:off x="1419225" y="346710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Рабочий лист</a:t>
            </a:r>
          </a:p>
        </p:txBody>
      </p: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A22962BC-E346-412C-9797-3CBD8AE248FB}"/>
              </a:ext>
            </a:extLst>
          </p:cNvPr>
          <p:cNvSpPr>
            <a:spLocks noGrp="1"/>
          </p:cNvSpPr>
          <p:nvPr/>
        </p:nvSpPr>
        <p:spPr>
          <a:xfrm>
            <a:off x="1419225" y="378142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Протокол стратегий, попыток, ошибок и проверки ИИ</a:t>
            </a:r>
          </a:p>
        </p:txBody>
      </p:sp>
      <p:sp>
        <p:nvSpPr>
          <p:cNvPr id="246" name="Прямоугольник: скругленные углы 245">
            <a:extLst>
              <a:ext uri="{FF2B5EF4-FFF2-40B4-BE49-F238E27FC236}">
                <a16:creationId xmlns:a16="http://schemas.microsoft.com/office/drawing/2014/main" id="{0738394F-3529-425A-87CE-CF1DD866445C}"/>
              </a:ext>
            </a:extLst>
          </p:cNvPr>
          <p:cNvSpPr>
            <a:spLocks noGrp="1"/>
          </p:cNvSpPr>
          <p:nvPr/>
        </p:nvSpPr>
        <p:spPr>
          <a:xfrm>
            <a:off x="6191250" y="337185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47" name="Овал 246">
            <a:extLst>
              <a:ext uri="{FF2B5EF4-FFF2-40B4-BE49-F238E27FC236}">
                <a16:creationId xmlns:a16="http://schemas.microsoft.com/office/drawing/2014/main" id="{CABC065B-85ED-4D9C-A3B2-D910EE7528DE}"/>
              </a:ext>
            </a:extLst>
          </p:cNvPr>
          <p:cNvSpPr>
            <a:spLocks noGrp="1"/>
          </p:cNvSpPr>
          <p:nvPr/>
        </p:nvSpPr>
        <p:spPr>
          <a:xfrm>
            <a:off x="6353175" y="356235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48" name="Прямоугольник 247">
            <a:extLst>
              <a:ext uri="{FF2B5EF4-FFF2-40B4-BE49-F238E27FC236}">
                <a16:creationId xmlns:a16="http://schemas.microsoft.com/office/drawing/2014/main" id="{E2300DC7-B574-4C84-9D34-0B634263CB7F}"/>
              </a:ext>
            </a:extLst>
          </p:cNvPr>
          <p:cNvSpPr>
            <a:spLocks noGrp="1"/>
          </p:cNvSpPr>
          <p:nvPr/>
        </p:nvSpPr>
        <p:spPr>
          <a:xfrm>
            <a:off x="6353175" y="356235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9" name="Прямоугольник 248">
            <a:extLst>
              <a:ext uri="{FF2B5EF4-FFF2-40B4-BE49-F238E27FC236}">
                <a16:creationId xmlns:a16="http://schemas.microsoft.com/office/drawing/2014/main" id="{D1A38C0A-2C3B-4233-91E1-6EFA88D80AF7}"/>
              </a:ext>
            </a:extLst>
          </p:cNvPr>
          <p:cNvSpPr>
            <a:spLocks noGrp="1"/>
          </p:cNvSpPr>
          <p:nvPr/>
        </p:nvSpPr>
        <p:spPr>
          <a:xfrm>
            <a:off x="6972300" y="346710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Шаблон маршрута</a:t>
            </a:r>
          </a:p>
        </p:txBody>
      </p: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386D1993-843B-4A74-80C3-1E4987A7E5A5}"/>
              </a:ext>
            </a:extLst>
          </p:cNvPr>
          <p:cNvSpPr>
            <a:spLocks noGrp="1"/>
          </p:cNvSpPr>
          <p:nvPr/>
        </p:nvSpPr>
        <p:spPr>
          <a:xfrm>
            <a:off x="6972300" y="378142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Готовая форма итогового ученического продукта</a:t>
            </a:r>
          </a:p>
        </p:txBody>
      </p:sp>
      <p:sp>
        <p:nvSpPr>
          <p:cNvPr id="251" name="Прямоугольник: скругленные углы 250">
            <a:extLst>
              <a:ext uri="{FF2B5EF4-FFF2-40B4-BE49-F238E27FC236}">
                <a16:creationId xmlns:a16="http://schemas.microsoft.com/office/drawing/2014/main" id="{14D8A1A2-3E0E-4F8F-B7D2-1F6499EAE0DD}"/>
              </a:ext>
            </a:extLst>
          </p:cNvPr>
          <p:cNvSpPr>
            <a:spLocks noGrp="1"/>
          </p:cNvSpPr>
          <p:nvPr/>
        </p:nvSpPr>
        <p:spPr>
          <a:xfrm>
            <a:off x="638175" y="43815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52" name="Овал 251">
            <a:extLst>
              <a:ext uri="{FF2B5EF4-FFF2-40B4-BE49-F238E27FC236}">
                <a16:creationId xmlns:a16="http://schemas.microsoft.com/office/drawing/2014/main" id="{A9A04C88-04A8-49D7-9964-7265D2D1E73E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CFA7BFD9-BB5C-40E6-B7F8-787D4F934BCE}"/>
              </a:ext>
            </a:extLst>
          </p:cNvPr>
          <p:cNvSpPr>
            <a:spLocks noGrp="1"/>
          </p:cNvSpPr>
          <p:nvPr/>
        </p:nvSpPr>
        <p:spPr>
          <a:xfrm>
            <a:off x="800100" y="45720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4" name="Прямоугольник 253">
            <a:extLst>
              <a:ext uri="{FF2B5EF4-FFF2-40B4-BE49-F238E27FC236}">
                <a16:creationId xmlns:a16="http://schemas.microsoft.com/office/drawing/2014/main" id="{A19F9576-3B51-45EC-9D98-6871C1AF8911}"/>
              </a:ext>
            </a:extLst>
          </p:cNvPr>
          <p:cNvSpPr>
            <a:spLocks noGrp="1"/>
          </p:cNvSpPr>
          <p:nvPr/>
        </p:nvSpPr>
        <p:spPr>
          <a:xfrm>
            <a:off x="1419225" y="44767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Контрольно-измерительные материалы</a:t>
            </a:r>
          </a:p>
        </p:txBody>
      </p:sp>
      <p:sp>
        <p:nvSpPr>
          <p:cNvPr id="255" name="Прямоугольник 254">
            <a:extLst>
              <a:ext uri="{FF2B5EF4-FFF2-40B4-BE49-F238E27FC236}">
                <a16:creationId xmlns:a16="http://schemas.microsoft.com/office/drawing/2014/main" id="{11AB8614-9F86-4AEB-A1E1-B089F7BC60A1}"/>
              </a:ext>
            </a:extLst>
          </p:cNvPr>
          <p:cNvSpPr>
            <a:spLocks noGrp="1"/>
          </p:cNvSpPr>
          <p:nvPr/>
        </p:nvSpPr>
        <p:spPr>
          <a:xfrm>
            <a:off x="1419225" y="47910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Входной тест, кейс, итоговые варианты и ключи</a:t>
            </a:r>
          </a:p>
        </p:txBody>
      </p:sp>
      <p:sp>
        <p:nvSpPr>
          <p:cNvPr id="256" name="Прямоугольник: скругленные углы 255">
            <a:extLst>
              <a:ext uri="{FF2B5EF4-FFF2-40B4-BE49-F238E27FC236}">
                <a16:creationId xmlns:a16="http://schemas.microsoft.com/office/drawing/2014/main" id="{9676FD47-22C8-406A-9FA7-423B7855ED38}"/>
              </a:ext>
            </a:extLst>
          </p:cNvPr>
          <p:cNvSpPr>
            <a:spLocks noGrp="1"/>
          </p:cNvSpPr>
          <p:nvPr/>
        </p:nvSpPr>
        <p:spPr>
          <a:xfrm>
            <a:off x="6191250" y="4381500"/>
            <a:ext cx="5362575" cy="866775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57" name="Овал 256">
            <a:extLst>
              <a:ext uri="{FF2B5EF4-FFF2-40B4-BE49-F238E27FC236}">
                <a16:creationId xmlns:a16="http://schemas.microsoft.com/office/drawing/2014/main" id="{484C9121-E7FF-43BF-8300-252B7493754A}"/>
              </a:ext>
            </a:extLst>
          </p:cNvPr>
          <p:cNvSpPr>
            <a:spLocks noGrp="1"/>
          </p:cNvSpPr>
          <p:nvPr/>
        </p:nvSpPr>
        <p:spPr>
          <a:xfrm>
            <a:off x="6353175" y="4572000"/>
            <a:ext cx="457200" cy="457200"/>
          </a:xfrm>
          <a:prstGeom prst="ellipse">
            <a:avLst/>
          </a:prstGeom>
          <a:solidFill>
            <a:srgbClr val="7AC943"/>
          </a:solidFill>
          <a:ln w="0">
            <a:noFill/>
          </a:ln>
        </p:spPr>
      </p:sp>
      <p:sp>
        <p:nvSpPr>
          <p:cNvPr id="258" name="Прямоугольник 257">
            <a:extLst>
              <a:ext uri="{FF2B5EF4-FFF2-40B4-BE49-F238E27FC236}">
                <a16:creationId xmlns:a16="http://schemas.microsoft.com/office/drawing/2014/main" id="{1469F0AE-6A2B-4963-A2E3-B8597BD8BFA6}"/>
              </a:ext>
            </a:extLst>
          </p:cNvPr>
          <p:cNvSpPr>
            <a:spLocks noGrp="1"/>
          </p:cNvSpPr>
          <p:nvPr/>
        </p:nvSpPr>
        <p:spPr>
          <a:xfrm>
            <a:off x="6353175" y="4572000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408C9270-90C3-4106-B7B6-0186D7B70236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43338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Подробный рубрикатор</a:t>
            </a:r>
          </a:p>
        </p:txBody>
      </p:sp>
      <p:sp>
        <p:nvSpPr>
          <p:cNvPr id="260" name="Прямоугольник 259">
            <a:extLst>
              <a:ext uri="{FF2B5EF4-FFF2-40B4-BE49-F238E27FC236}">
                <a16:creationId xmlns:a16="http://schemas.microsoft.com/office/drawing/2014/main" id="{BE7AF9C0-D1DC-4F23-AEBA-7A34E776D041}"/>
              </a:ext>
            </a:extLst>
          </p:cNvPr>
          <p:cNvSpPr>
            <a:spLocks noGrp="1"/>
          </p:cNvSpPr>
          <p:nvPr/>
        </p:nvSpPr>
        <p:spPr>
          <a:xfrm>
            <a:off x="6972300" y="4791075"/>
            <a:ext cx="4333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Пять критериев, ограничения балла и лист экспертизы</a:t>
            </a:r>
          </a:p>
        </p:txBody>
      </p:sp>
      <p:sp>
        <p:nvSpPr>
          <p:cNvPr id="261" name="Прямоугольник: скругленные углы 260">
            <a:extLst>
              <a:ext uri="{FF2B5EF4-FFF2-40B4-BE49-F238E27FC236}">
                <a16:creationId xmlns:a16="http://schemas.microsoft.com/office/drawing/2014/main" id="{DA23A362-9406-4B3D-AD9C-20F181CA4FEA}"/>
              </a:ext>
            </a:extLst>
          </p:cNvPr>
          <p:cNvSpPr>
            <a:spLocks noGrp="1"/>
          </p:cNvSpPr>
          <p:nvPr/>
        </p:nvSpPr>
        <p:spPr>
          <a:xfrm>
            <a:off x="638175" y="5534025"/>
            <a:ext cx="10915650" cy="657225"/>
          </a:xfrm>
          <a:prstGeom prst="roundRect">
            <a:avLst>
              <a:gd name="adj" fmla="val 14493"/>
            </a:avLst>
          </a:prstGeom>
          <a:solidFill>
            <a:srgbClr val="F5F6F7"/>
          </a:solidFill>
          <a:ln w="9525">
            <a:solidFill>
              <a:srgbClr val="D7D9DD"/>
            </a:solidFill>
            <a:prstDash val="solid"/>
          </a:ln>
        </p:spPr>
      </p:sp>
      <p:sp>
        <p:nvSpPr>
          <p:cNvPr id="262" name="Прямоугольник 261">
            <a:extLst>
              <a:ext uri="{FF2B5EF4-FFF2-40B4-BE49-F238E27FC236}">
                <a16:creationId xmlns:a16="http://schemas.microsoft.com/office/drawing/2014/main" id="{8BD9B648-4D4F-45DF-9506-8B4369AA74E1}"/>
              </a:ext>
            </a:extLst>
          </p:cNvPr>
          <p:cNvSpPr>
            <a:spLocks noGrp="1"/>
          </p:cNvSpPr>
          <p:nvPr/>
        </p:nvSpPr>
        <p:spPr>
          <a:xfrm>
            <a:off x="876300" y="5657850"/>
            <a:ext cx="1333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Проведение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38F9AB6F-C431-4076-8A2F-20D69DD9C59E}"/>
              </a:ext>
            </a:extLst>
          </p:cNvPr>
          <p:cNvSpPr>
            <a:spLocks noGrp="1"/>
          </p:cNvSpPr>
          <p:nvPr/>
        </p:nvSpPr>
        <p:spPr>
          <a:xfrm>
            <a:off x="2400300" y="5657850"/>
            <a:ext cx="2571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Онлайн: тренажёр и формы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DEC7F687-2A2C-4B22-B01B-3F8EDF86C12F}"/>
              </a:ext>
            </a:extLst>
          </p:cNvPr>
          <p:cNvSpPr>
            <a:spLocks noGrp="1"/>
          </p:cNvSpPr>
          <p:nvPr/>
        </p:nvSpPr>
        <p:spPr>
          <a:xfrm>
            <a:off x="4972050" y="5657850"/>
            <a:ext cx="3000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Автономно: один HTML-файл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370C35D0-96CF-4016-97BE-F308CBDD8D64}"/>
              </a:ext>
            </a:extLst>
          </p:cNvPr>
          <p:cNvSpPr>
            <a:spLocks noGrp="1"/>
          </p:cNvSpPr>
          <p:nvPr/>
        </p:nvSpPr>
        <p:spPr>
          <a:xfrm>
            <a:off x="7972425" y="5657850"/>
            <a:ext cx="32861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039"/>
          </a:bodyPr>
          <a:lstStyle/>
          <a:p>
            <a:pPr algn="ctr">
              <a:lnSpc>
                <a:spcPct val="100000"/>
              </a:lnSpc>
              <a:buNone/>
              <a:defRPr sz="1275" b="0">
                <a:solidFill>
                  <a:srgbClr val="62636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636A"/>
                </a:solidFill>
                <a:latin typeface="Arial"/>
                <a:ea typeface="Arial"/>
                <a:cs typeface="Arial"/>
              </a:rPr>
              <a:t>Без компьютеров: таблицы и данные попыток</a:t>
            </a:r>
          </a:p>
        </p:txBody>
      </p:sp>
    </p:spTree>
    <p:extLst>
      <p:ext uri="{BB962C8B-B14F-4D97-AF65-F5344CB8AC3E}">
        <p14:creationId xmlns:p14="http://schemas.microsoft.com/office/powerpoint/2010/main" val="40776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29;p12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760" cy="758160"/>
          </a:xfrm>
          <a:prstGeom prst="rect">
            <a:avLst/>
          </a:prstGeom>
          <a:ln>
            <a:noFill/>
          </a:ln>
        </p:spPr>
      </p:pic>
      <p:sp>
        <p:nvSpPr>
          <p:cNvPr id="234" name="Прямоугольник 233">
            <a:extLst>
              <a:ext uri="{FF2B5EF4-FFF2-40B4-BE49-F238E27FC236}">
                <a16:creationId xmlns:a16="http://schemas.microsoft.com/office/drawing/2014/main" id="{EA315DF6-861F-4EE6-B9C9-A18C02C167E8}"/>
              </a:ext>
            </a:extLst>
          </p:cNvPr>
          <p:cNvSpPr>
            <a:spLocks noGrp="1"/>
          </p:cNvSpPr>
          <p:nvPr/>
        </p:nvSpPr>
        <p:spPr>
          <a:xfrm>
            <a:off x="1190625" y="2352675"/>
            <a:ext cx="9810750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Готова целостная методическая</a:t>
            </a:r>
          </a:p>
          <a:p>
            <a:pPr algn="ctr">
              <a:lnSpc>
                <a:spcPct val="100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разработка двух уроков</a:t>
            </a:r>
          </a:p>
        </p:txBody>
      </p:sp>
      <p:sp>
        <p:nvSpPr>
          <p:cNvPr id="235" name="Прямоугольник 234">
            <a:extLst>
              <a:ext uri="{FF2B5EF4-FFF2-40B4-BE49-F238E27FC236}">
                <a16:creationId xmlns:a16="http://schemas.microsoft.com/office/drawing/2014/main" id="{CFB7E720-1967-4E79-B560-D77D015AE020}"/>
              </a:ext>
            </a:extLst>
          </p:cNvPr>
          <p:cNvSpPr>
            <a:spLocks noGrp="1"/>
          </p:cNvSpPr>
          <p:nvPr/>
        </p:nvSpPr>
        <p:spPr>
          <a:xfrm>
            <a:off x="1952625" y="3914775"/>
            <a:ext cx="82867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0">
                <a:solidFill>
                  <a:srgbClr val="C3C4C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3C4C7"/>
                </a:solidFill>
                <a:latin typeface="Arial"/>
                <a:ea typeface="Arial"/>
                <a:cs typeface="Arial"/>
              </a:rPr>
              <a:t>Сценарий, материалы ученика, диагностика и оценивание связаны в один комплект</a:t>
            </a:r>
          </a:p>
        </p:txBody>
      </p:sp>
      <p:sp>
        <p:nvSpPr>
          <p:cNvPr id="237" name="Прямоугольник 236">
            <a:extLst>
              <a:ext uri="{FF2B5EF4-FFF2-40B4-BE49-F238E27FC236}">
                <a16:creationId xmlns:a16="http://schemas.microsoft.com/office/drawing/2014/main" id="{494931D9-6F82-42CB-B283-ABACED7658A5}"/>
              </a:ext>
            </a:extLst>
          </p:cNvPr>
          <p:cNvSpPr>
            <a:spLocks noGrp="1"/>
          </p:cNvSpPr>
          <p:nvPr/>
        </p:nvSpPr>
        <p:spPr>
          <a:xfrm>
            <a:off x="1190625" y="5657850"/>
            <a:ext cx="98107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>
                <a:solidFill>
                  <a:srgbClr val="C3C4C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3C4C7"/>
                </a:solidFill>
                <a:latin typeface="Arial"/>
                <a:ea typeface="Arial"/>
                <a:cs typeface="Arial"/>
              </a:rPr>
              <a:t>Спасибо за внимание!</a:t>
            </a:r>
          </a:p>
        </p:txBody>
      </p:sp>
      <p:sp>
        <p:nvSpPr>
          <p:cNvPr id="238" name="Прямоугольник 237">
            <a:extLst>
              <a:ext uri="{FF2B5EF4-FFF2-40B4-BE49-F238E27FC236}">
                <a16:creationId xmlns:a16="http://schemas.microsoft.com/office/drawing/2014/main" id="{6487693E-E325-414A-A273-539D414D8871}"/>
              </a:ext>
            </a:extLst>
          </p:cNvPr>
          <p:cNvSpPr>
            <a:spLocks noGrp="1"/>
          </p:cNvSpPr>
          <p:nvPr/>
        </p:nvSpPr>
        <p:spPr>
          <a:xfrm>
            <a:off x="11334750" y="6438900"/>
            <a:ext cx="5524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56585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585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10996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954</Words>
  <Application>Microsoft Office PowerPoint</Application>
  <DocSecurity>0</DocSecurity>
  <PresentationFormat>Широкоэкранный</PresentationFormat>
  <Paragraphs>156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Noto Sans Symbols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Alexey Desyatnik</cp:lastModifiedBy>
  <cp:revision>2</cp:revision>
  <dcterms:created xsi:type="dcterms:W3CDTF">2026-09-16T13:25:02Z</dcterms:created>
  <dcterms:modified xsi:type="dcterms:W3CDTF">2026-09-19T09:00:26Z</dcterms:modified>
</cp:coreProperties>
</file>