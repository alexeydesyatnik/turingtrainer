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80" y="1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2004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0080" y="1749960"/>
            <a:ext cx="10972080" cy="13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u="none" strike="noStrike" cap="non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Структура презентации защиты паспорта методической разработки учебного </a:t>
            </a:r>
            <a:r>
              <a:rPr lang="ru-RU" sz="4000" b="1" dirty="0">
                <a:solidFill>
                  <a:srgbClr val="0F0F0F"/>
                </a:solidFill>
              </a:rPr>
              <a:t>занятия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5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u="none" strike="noStrike" cap="non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Название занятия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i="0" u="none" strike="noStrike" cap="non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Тема, предметы-партнёры, где проходит. Одна строка, понятно без пояснений.</a:t>
            </a:r>
            <a:endParaRPr sz="14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2480040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00000" y="2630160"/>
            <a:ext cx="103914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[Название занятия — формулировка как заголовок газетной статьи, не как тема параграфа]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3750120"/>
            <a:ext cx="35168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Предметы-партнёры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4150080"/>
            <a:ext cx="3516840" cy="69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00000" y="4299840"/>
            <a:ext cx="29970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[Информатика + ___________]</a:t>
            </a:r>
            <a:endParaRPr sz="12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337280" y="3750120"/>
            <a:ext cx="35168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Класс / возраст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337280" y="4150080"/>
            <a:ext cx="3516840" cy="69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97200" y="4299840"/>
            <a:ext cx="29970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[Например: 8–9 класс]</a:t>
            </a:r>
            <a:endParaRPr sz="12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034480" y="3750120"/>
            <a:ext cx="35168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Где проходит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034480" y="4150080"/>
            <a:ext cx="3516840" cy="69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294760" y="4299840"/>
            <a:ext cx="29970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[Урок / интенсив / проектная неделя]</a:t>
            </a:r>
            <a:endParaRPr sz="12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5349960"/>
            <a:ext cx="10911600" cy="10998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900000" y="5500080"/>
            <a:ext cx="103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Проверка формулировки: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00000" y="5870160"/>
            <a:ext cx="1039968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Понятна ли тема человеку, который не присутствовал на занятии, за 5 секунд чтения? Если нет — переформулируйте.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6" descr="/home/claude/header_stri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7581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3A3A3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sz="2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40080" y="1820160"/>
            <a:ext cx="949968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Реальный вызов, на который отвечает занятие. Не «тема параграфа», а задача мира.</a:t>
            </a:r>
            <a:endParaRPr sz="145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40080" y="2480040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00000" y="2630160"/>
            <a:ext cx="1039968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1" u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[Опишите проблему как задачу реального мира: кто страдает, какой ущерб, почему это важно сейчас]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0080" y="5550120"/>
            <a:ext cx="1091160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9;p6">
            <a:extLst>
              <a:ext uri="{FF2B5EF4-FFF2-40B4-BE49-F238E27FC236}">
                <a16:creationId xmlns:a16="http://schemas.microsoft.com/office/drawing/2014/main" id="{083B6A70-49B8-5F69-C890-A15FA6CBD85E}"/>
              </a:ext>
            </a:extLst>
          </p:cNvPr>
          <p:cNvSpPr/>
          <p:nvPr/>
        </p:nvSpPr>
        <p:spPr>
          <a:xfrm>
            <a:off x="640200" y="3513600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0;p6">
            <a:extLst>
              <a:ext uri="{FF2B5EF4-FFF2-40B4-BE49-F238E27FC236}">
                <a16:creationId xmlns:a16="http://schemas.microsoft.com/office/drawing/2014/main" id="{36D816BA-982A-3B2E-88F4-CE15264062A9}"/>
              </a:ext>
            </a:extLst>
          </p:cNvPr>
          <p:cNvSpPr/>
          <p:nvPr/>
        </p:nvSpPr>
        <p:spPr>
          <a:xfrm>
            <a:off x="900120" y="3663720"/>
            <a:ext cx="1039968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1" u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[Опишите проблему как задачу реального мира: кто страдает, какой ущерб, почему это важно сейчас]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9;p6">
            <a:extLst>
              <a:ext uri="{FF2B5EF4-FFF2-40B4-BE49-F238E27FC236}">
                <a16:creationId xmlns:a16="http://schemas.microsoft.com/office/drawing/2014/main" id="{67AA7364-7C84-F636-1E21-4875802825F9}"/>
              </a:ext>
            </a:extLst>
          </p:cNvPr>
          <p:cNvSpPr/>
          <p:nvPr/>
        </p:nvSpPr>
        <p:spPr>
          <a:xfrm>
            <a:off x="640200" y="4588201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0;p6">
            <a:extLst>
              <a:ext uri="{FF2B5EF4-FFF2-40B4-BE49-F238E27FC236}">
                <a16:creationId xmlns:a16="http://schemas.microsoft.com/office/drawing/2014/main" id="{14CF3C0F-20C8-6AB7-0B61-4D38DD8AE785}"/>
              </a:ext>
            </a:extLst>
          </p:cNvPr>
          <p:cNvSpPr/>
          <p:nvPr/>
        </p:nvSpPr>
        <p:spPr>
          <a:xfrm>
            <a:off x="900120" y="4738321"/>
            <a:ext cx="1039968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1" u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[Опишите проблему как задачу реального мира: кто страдает, какой ущерб, почему это важно сейчас]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7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Замысел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Как информатика + предмет-партнёр вместе решают проблему. Почему без ИТ не получится.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99840" y="2419920"/>
            <a:ext cx="21996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Информатика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00120" y="2800080"/>
            <a:ext cx="1949760" cy="1949760"/>
          </a:xfrm>
          <a:prstGeom prst="ellipse">
            <a:avLst/>
          </a:prstGeom>
          <a:solidFill>
            <a:srgbClr val="D4F7E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550160" y="2800080"/>
            <a:ext cx="1949760" cy="1949760"/>
          </a:xfrm>
          <a:prstGeom prst="ellipse">
            <a:avLst/>
          </a:prstGeom>
          <a:solidFill>
            <a:srgbClr val="E8E8EA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99960" y="3624840"/>
            <a:ext cx="10998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Какая компетенция?</a:t>
            </a:r>
            <a:endParaRPr sz="9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350000" y="4830120"/>
            <a:ext cx="234972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[предмет-партнёр]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750040" y="3575160"/>
            <a:ext cx="49968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499920" y="2750040"/>
            <a:ext cx="8049600" cy="1849680"/>
          </a:xfrm>
          <a:prstGeom prst="roundRect">
            <a:avLst>
              <a:gd name="adj" fmla="val 35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780000" y="2900160"/>
            <a:ext cx="754956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Совместное решение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780000" y="3380040"/>
            <a:ext cx="7529760" cy="10998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039920" y="3530160"/>
            <a:ext cx="7009560" cy="79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[Опишите конкретный механизм: какой алгоритм/программа/расчёт решает задачу из предмета-партнёра. Например: «Python-скрипт анализирует данные опыта по биологии и строит график роста за секунды вместо часа ручных расчётов»]</a:t>
            </a:r>
            <a:endParaRPr sz="12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40080" y="53499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Ключевой вопрос: что именно умеет компьютер, чего не может сделать ученик руками за то же время?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8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Этапы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62331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Что делает команда детей на каждом этапе — конкретные действия.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40080" y="204824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900000" y="217820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649880" y="213824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i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[Этап 1: название]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150160" y="213824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[Конкретное действие команды: например, «формулируют гипотезу по чек-листу»]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100160" y="217820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[__ мин]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0080" y="296804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00000" y="309836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649880" y="305804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i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[Этап 2: название]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150160" y="305804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[Конкретное действие: например, «пишут первую версию алгоритма в блок-схеме»]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0100160" y="309836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[__ мин]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" y="388820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00000" y="401816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649880" y="397820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i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[Этапы 3: название]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150160" y="397820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[Конкретное действие: например, «тестируют код на реальных данных, фиксируют ошибки»]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100160" y="401816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[__ мин]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480836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00000" y="493832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649880" y="489836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i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[Этапы 4: название]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150160" y="489836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[Конкретное действие: например, «собирают результат в лендинг, готовят защиту»]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0100160" y="493832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[__ мин]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8">
            <a:extLst>
              <a:ext uri="{FF2B5EF4-FFF2-40B4-BE49-F238E27FC236}">
                <a16:creationId xmlns:a16="http://schemas.microsoft.com/office/drawing/2014/main" id="{FA4FEA90-73F5-BDB8-70C0-963A245C50EB}"/>
              </a:ext>
            </a:extLst>
          </p:cNvPr>
          <p:cNvSpPr/>
          <p:nvPr/>
        </p:nvSpPr>
        <p:spPr>
          <a:xfrm>
            <a:off x="640200" y="567893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35;p8">
            <a:extLst>
              <a:ext uri="{FF2B5EF4-FFF2-40B4-BE49-F238E27FC236}">
                <a16:creationId xmlns:a16="http://schemas.microsoft.com/office/drawing/2014/main" id="{FA4B0788-8D05-B43B-6E7C-B8178B077B5B}"/>
              </a:ext>
            </a:extLst>
          </p:cNvPr>
          <p:cNvSpPr/>
          <p:nvPr/>
        </p:nvSpPr>
        <p:spPr>
          <a:xfrm>
            <a:off x="900120" y="580889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36;p8">
            <a:extLst>
              <a:ext uri="{FF2B5EF4-FFF2-40B4-BE49-F238E27FC236}">
                <a16:creationId xmlns:a16="http://schemas.microsoft.com/office/drawing/2014/main" id="{382C2047-10A3-E0C8-E990-65E4AEC599FD}"/>
              </a:ext>
            </a:extLst>
          </p:cNvPr>
          <p:cNvSpPr/>
          <p:nvPr/>
        </p:nvSpPr>
        <p:spPr>
          <a:xfrm>
            <a:off x="1650000" y="576893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i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[Этапы 5: название]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7;p8">
            <a:extLst>
              <a:ext uri="{FF2B5EF4-FFF2-40B4-BE49-F238E27FC236}">
                <a16:creationId xmlns:a16="http://schemas.microsoft.com/office/drawing/2014/main" id="{25F9033D-AE2B-2DFF-11F4-989BAE51BD88}"/>
              </a:ext>
            </a:extLst>
          </p:cNvPr>
          <p:cNvSpPr/>
          <p:nvPr/>
        </p:nvSpPr>
        <p:spPr>
          <a:xfrm>
            <a:off x="5150280" y="576893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[Конкретное действие: например, «собирают результат в лендинг, готовят защиту»]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38;p8">
            <a:extLst>
              <a:ext uri="{FF2B5EF4-FFF2-40B4-BE49-F238E27FC236}">
                <a16:creationId xmlns:a16="http://schemas.microsoft.com/office/drawing/2014/main" id="{26B9EA62-1035-6505-1FBA-CFEA4569DC32}"/>
              </a:ext>
            </a:extLst>
          </p:cNvPr>
          <p:cNvSpPr/>
          <p:nvPr/>
        </p:nvSpPr>
        <p:spPr>
          <a:xfrm>
            <a:off x="10100280" y="580889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[__ мин]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9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Продукт и лендинг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Что появляется у учеников. Ссылка на лендинг-пример занятия.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40080" y="2480040"/>
            <a:ext cx="5278680" cy="369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900000" y="2710080"/>
            <a:ext cx="477864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Что получает ученик на выходе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00000" y="3179880"/>
            <a:ext cx="4758480" cy="114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159920" y="3330000"/>
            <a:ext cx="423864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[Опишите артефакт: работающая программа / сайт / визуализация данных / автоматический отчёт — что-то, что можно показать и потрогать]</a:t>
            </a:r>
            <a:endParaRPr sz="12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900000" y="452988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Критерий готовности продукта: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900000" y="4929840"/>
            <a:ext cx="34956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2C7A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320120" y="4929840"/>
            <a:ext cx="42588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Работает на реальных данных, не на примере из методички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00000" y="5349960"/>
            <a:ext cx="34956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2C7A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320120" y="5349960"/>
            <a:ext cx="42588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Можно запустить и увидеть результат за &lt; 1 минуты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00000" y="5770080"/>
            <a:ext cx="34956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2C7A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320120" y="5770080"/>
            <a:ext cx="42588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Ученик может объяснить каждую часть своими словами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271920" y="2480040"/>
            <a:ext cx="5278680" cy="3699720"/>
          </a:xfrm>
          <a:prstGeom prst="roundRect">
            <a:avLst>
              <a:gd name="adj" fmla="val 35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32200" y="2710080"/>
            <a:ext cx="477864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Лендинг занятия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532200" y="3179880"/>
            <a:ext cx="4758480" cy="59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771960" y="3179880"/>
            <a:ext cx="427860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0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🔗  [clck.ru/ваша-ссылка]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532200" y="398016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Лендинг должен содержать: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532200" y="451008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832080" y="438012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Описание занятия и предметов-партнёров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532200" y="498996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832080" y="486000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Пример детского продукта (скрин/демо)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532200" y="546984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832080" y="533988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Чек-лист и материалы для повторения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0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Как оценим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Метрика и чек-лист. Например: доля учеников, сформулировавших проблему самостоятельно.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40080" y="2480040"/>
            <a:ext cx="5278680" cy="1849680"/>
          </a:xfrm>
          <a:prstGeom prst="roundRect">
            <a:avLst>
              <a:gd name="adj" fmla="val 3500"/>
            </a:avLst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00000" y="267984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Главная метрика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900000" y="3080160"/>
            <a:ext cx="1699560" cy="64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900000" y="3080160"/>
            <a:ext cx="169956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[__]%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900000" y="3809880"/>
            <a:ext cx="467856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1" u="none" strike="noStrike">
                <a:solidFill>
                  <a:srgbClr val="1B3A0F"/>
                </a:solidFill>
                <a:latin typeface="Arial"/>
                <a:ea typeface="Arial"/>
                <a:cs typeface="Arial"/>
                <a:sym typeface="Arial"/>
              </a:rPr>
              <a:t>[Например: доля учеников, сформулировавших проблему самостоятельно, без подсказки учителя]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271920" y="2480040"/>
            <a:ext cx="5278680" cy="1849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532200" y="267984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Дополнительные показатели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532200" y="317988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832080" y="308016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[Метрика 2: например, % команд, завершивших продукт]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532200" y="357984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832080" y="348012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[Метрика 3: например, среднее время на этап vs план]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532200" y="398016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832080" y="388008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[Метрика 4: например, оценка по рубрике защиты]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40080" y="4579920"/>
            <a:ext cx="109116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Чек-лист оценки занятия: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40080" y="502992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090080" y="502992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Продукт работает на реальных данных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240240" y="502992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690240" y="502992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Каждый этап завершился наблюдаемым результатом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40080" y="551016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090080" y="551016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Команда может объяснить решение без учителя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240240" y="551016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690240" y="551016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Метрика измерена до и после занятия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1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Куда дальше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Как это масштабируется и внедряется. Реалистичность по ресурсам.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40080" y="2480040"/>
            <a:ext cx="3565440" cy="2699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855960" y="2480040"/>
            <a:ext cx="219600" cy="1299600"/>
          </a:xfrm>
          <a:prstGeom prst="rect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00000" y="2710080"/>
            <a:ext cx="28656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Один класс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900000" y="3229920"/>
            <a:ext cx="3065400" cy="9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[Что нужно: оборудование, время учителя на подготовку]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559040" y="2480040"/>
            <a:ext cx="3565440" cy="2699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774560" y="2480040"/>
            <a:ext cx="219600" cy="1299600"/>
          </a:xfrm>
          <a:prstGeom prst="rect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818960" y="2710080"/>
            <a:ext cx="28656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Параллель / школа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818960" y="3229920"/>
            <a:ext cx="3065400" cy="9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[Что меняется при масштабировании: методичка, обучение коллег]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477640" y="2480040"/>
            <a:ext cx="3565440" cy="2699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1693520" y="2480040"/>
            <a:ext cx="219600" cy="1299600"/>
          </a:xfrm>
          <a:prstGeom prst="rect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737560" y="2710080"/>
            <a:ext cx="28656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Район / регион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737560" y="3229920"/>
            <a:ext cx="3065400" cy="9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>
                <a:solidFill>
                  <a:srgbClr val="8A8A8E"/>
                </a:solidFill>
                <a:latin typeface="Arial"/>
                <a:ea typeface="Arial"/>
                <a:cs typeface="Arial"/>
                <a:sym typeface="Arial"/>
              </a:rPr>
              <a:t>[Условия для внедрения: курсы повышения квалификации, доступ к оборудованию]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40080" y="5429880"/>
            <a:ext cx="10911600" cy="99972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900000" y="5580000"/>
            <a:ext cx="103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Какие риски: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900000" y="5929920"/>
            <a:ext cx="1039968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1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[Укажите честно: сколько часов подготовки учителю, какое оборудование обязательно, что можно заменить без потери качества]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2" descr="/home/claude/header_stri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758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3A3A3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1195920" y="2700000"/>
            <a:ext cx="979956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блоков — и комиссия услышит то, что нужно</a:t>
            </a:r>
            <a:endParaRPr sz="36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195920" y="3949920"/>
            <a:ext cx="979956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u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Подставьте своё занятие в шаблон</a:t>
            </a:r>
            <a:endParaRPr sz="16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687</Words>
  <Application>Microsoft Office PowerPoint</Application>
  <PresentationFormat>Широкоэкранный</PresentationFormat>
  <Paragraphs>107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Noto Sans Symbols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Зуев Петр</cp:lastModifiedBy>
  <cp:revision>1</cp:revision>
  <dcterms:modified xsi:type="dcterms:W3CDTF">2026-07-16T09:52:35Z</dcterms:modified>
</cp:coreProperties>
</file>