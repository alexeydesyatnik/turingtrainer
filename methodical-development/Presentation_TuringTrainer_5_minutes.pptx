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2a0683eae4961" /><Relationship Type="http://schemas.openxmlformats.org/officeDocument/2006/relationships/extended-properties" Target="/docProps/app.xml" Id="R5b551f764c69493f" /><Relationship Type="http://schemas.openxmlformats.org/officeDocument/2006/relationships/officeDocument" Target="/ppt/presentation.xml" Id="R14dc9bc1205b49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e6f0960d84212"/>
  </p:sldMasterIdLst>
  <p:notesMasterIdLst>
    <p:notesMasterId xmlns:r="http://schemas.openxmlformats.org/officeDocument/2006/relationships" r:id="R94bef3d51b6240e3"/>
  </p:notesMasterIdLst>
  <p:sldIdLst>
    <p:sldId xmlns:r="http://schemas.openxmlformats.org/officeDocument/2006/relationships" id="256" r:id="R8e5964663377468b"/>
    <p:sldId xmlns:r="http://schemas.openxmlformats.org/officeDocument/2006/relationships" id="257" r:id="Rf07dafbe87f9488e"/>
    <p:sldId xmlns:r="http://schemas.openxmlformats.org/officeDocument/2006/relationships" id="258" r:id="Rbbb54b236aa34027"/>
    <p:sldId xmlns:r="http://schemas.openxmlformats.org/officeDocument/2006/relationships" id="259" r:id="Rc158ad84da834a8b"/>
    <p:sldId xmlns:r="http://schemas.openxmlformats.org/officeDocument/2006/relationships" id="260" r:id="R6e44df9fdd814f8a"/>
    <p:sldId xmlns:r="http://schemas.openxmlformats.org/officeDocument/2006/relationships" id="261" r:id="R64cfa9a3c650445a"/>
    <p:sldId xmlns:r="http://schemas.openxmlformats.org/officeDocument/2006/relationships" id="262" r:id="Rcc258ec0bfa54e87"/>
    <p:sldId xmlns:r="http://schemas.openxmlformats.org/officeDocument/2006/relationships" id="263" r:id="Rf24d036ae6804896"/>
    <p:sldId xmlns:r="http://schemas.openxmlformats.org/officeDocument/2006/relationships" id="264" r:id="R7dc2e4de55bb41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b80d44b6d04fdb" /><Relationship Type="http://schemas.openxmlformats.org/officeDocument/2006/relationships/slideMaster" Target="/ppt/slideMasters/slideMaster1.xml" Id="Rbc9e6f0960d84212" /><Relationship Type="http://schemas.openxmlformats.org/officeDocument/2006/relationships/notesMaster" Target="/ppt/notesMasters/notesMaster1.xml" Id="R94bef3d51b6240e3" /><Relationship Type="http://schemas.openxmlformats.org/officeDocument/2006/relationships/presProps" Target="/ppt/presProps.xml" Id="R068b3ce9e2ac403a" /><Relationship Type="http://schemas.openxmlformats.org/officeDocument/2006/relationships/viewProps" Target="/ppt/viewProps.xml" Id="Re3425d64f26b45a8" /><Relationship Type="http://schemas.openxmlformats.org/officeDocument/2006/relationships/tableStyles" Target="/ppt/tableStyles.xml" Id="Rc09a9d38c9a54c94" /><Relationship Type="http://schemas.openxmlformats.org/officeDocument/2006/relationships/slide" Target="/ppt/slides/slide1.xml" Id="R8e5964663377468b" /><Relationship Type="http://schemas.openxmlformats.org/officeDocument/2006/relationships/slide" Target="/ppt/slides/slide2.xml" Id="Rf07dafbe87f9488e" /><Relationship Type="http://schemas.openxmlformats.org/officeDocument/2006/relationships/slide" Target="/ppt/slides/slide3.xml" Id="Rbbb54b236aa34027" /><Relationship Type="http://schemas.openxmlformats.org/officeDocument/2006/relationships/slide" Target="/ppt/slides/slide4.xml" Id="Rc158ad84da834a8b" /><Relationship Type="http://schemas.openxmlformats.org/officeDocument/2006/relationships/slide" Target="/ppt/slides/slide5.xml" Id="R6e44df9fdd814f8a" /><Relationship Type="http://schemas.openxmlformats.org/officeDocument/2006/relationships/slide" Target="/ppt/slides/slide6.xml" Id="R64cfa9a3c650445a" /><Relationship Type="http://schemas.openxmlformats.org/officeDocument/2006/relationships/slide" Target="/ppt/slides/slide7.xml" Id="Rcc258ec0bfa54e87" /><Relationship Type="http://schemas.openxmlformats.org/officeDocument/2006/relationships/slide" Target="/ppt/slides/slide8.xml" Id="Rf24d036ae6804896" /><Relationship Type="http://schemas.openxmlformats.org/officeDocument/2006/relationships/slide" Target="/ppt/slides/slide9.xml" Id="R7dc2e4de55bb41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20a2fefa8b45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3f0610ac84960" /><Relationship Type="http://schemas.openxmlformats.org/officeDocument/2006/relationships/notesMaster" Target="/ppt/notesMasters/notesMaster1.xml" Id="R0fcfe04878814b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7bbd81baa04313" /><Relationship Type="http://schemas.openxmlformats.org/officeDocument/2006/relationships/notesMaster" Target="/ppt/notesMasters/notesMaster1.xml" Id="Rbf2713c4083148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75e28991204f9c" /><Relationship Type="http://schemas.openxmlformats.org/officeDocument/2006/relationships/notesMaster" Target="/ppt/notesMasters/notesMaster1.xml" Id="R9f17475268ec40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8b94a0e5f6481f" /><Relationship Type="http://schemas.openxmlformats.org/officeDocument/2006/relationships/notesMaster" Target="/ppt/notesMasters/notesMaster1.xml" Id="R1cdfc6c46e994a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84db9ae66348cc" /><Relationship Type="http://schemas.openxmlformats.org/officeDocument/2006/relationships/notesMaster" Target="/ppt/notesMasters/notesMaster1.xml" Id="R9d6fe2011e9540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9bbebf8b4f400e" /><Relationship Type="http://schemas.openxmlformats.org/officeDocument/2006/relationships/notesMaster" Target="/ppt/notesMasters/notesMaster1.xml" Id="R82a419c57c4f43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8998e1df7a4c88" /><Relationship Type="http://schemas.openxmlformats.org/officeDocument/2006/relationships/notesMaster" Target="/ppt/notesMasters/notesMaster1.xml" Id="R4170a951af9e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e475ba57fd47e8" /><Relationship Type="http://schemas.openxmlformats.org/officeDocument/2006/relationships/notesMaster" Target="/ppt/notesMasters/notesMaster1.xml" Id="Rbc9b46965d2e4b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b5eee4d80d451c" /><Relationship Type="http://schemas.openxmlformats.org/officeDocument/2006/relationships/notesMaster" Target="/ppt/notesMasters/notesMaster1.xml" Id="R3c6a0ea5e09c49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0:00-0:12. Добрый день. Представляю методическую разработку «Тьюринг под лупой» для подготовки одиннадцатиклассников к заданию 12 КЕГЭ.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0:12-0:32. Это два урока по 45 минут на стыке информатики и математики. Итогом становится диагностический маршрут. По нему другой ученик выбирает способ решения новой задачи без устных пояснений авторов.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0:32-1:00. Проблема возникает, когда полная трассировка превращается из учебной опоры в единственный способ решения. На длинной ленте ученик тратит время и накапливает ошибки. По одному ответу учителю трудно понять, увидел ли ученик закономерность. Поэтому занятие учит осознанно выбирать стратегию.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1:00-1:27. Тренажёр здесь работает как исследовательский стенд. Ученики наблюдают отдельные шаги, сравнивают попытки, находят цикл или инвариант. Затем они проверяют правило на обычном и граничном примерах и решают, нужна ли полная трассировка, короткая проверка или аналитический вывод.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1:27-2:02. Работа разбита на пять спринтов. Сначала ученик фиксирует исходную стратегию. Затем команда собирает данные трёх попыток и формулирует закономерность. На втором уроке она собирает маршрут и передаёт его другой команде без пояснений. Проверка показывает, действительно ли продукт понятен пользователю.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2:02-2:34. Итоговый продукт содержит правила выбора стратегии, данные трёх попыток, разбор машины, карту ошибок и проверочный пример. На экране видно сам тренажёр: ленту, таблицу команд и пошаговое управление. Для короткой демонстрации достаточно показать один прогноз и один шаг. Полный прогон не нужен.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2:34-2:58. Результат оценивается по входной и итоговой диагностике, данным попыток и независимой проверке продукта. На первый пилот заданы ориентиры: не менее восьмидесяти процентов правильных итоговых решений без подсказок, не менее семидесяти пяти процентов понятных маршрутов и обязательная проверка каждого использованного ответа ИИ. Это плановые показатели, а не уже полученные результаты.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2:58-3:20. Для учителя подготовлен полный комплект: сценарий, рабочие материалы, КИМы, рубрикатор и автономная версия тренажёра. Если нет сети, используется один HTML-файл. Без компьютеров остаются таблицы команд и подготовленные данные попыток. Если ИИ недоступен, ученики проверяют объяснение с намеренной ошибкой.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3:20-3:28. В результате тренажёр встроен в полный сценарий двух уроков и поддерживает переход от механического исполнения к обоснованному выбору стратегии. Спасибо. Готов ответить на вопросы.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16812fd7a4424" /></Relationships>
</file>

<file path=ppt/slideLayouts/slideLayout1.xml><?xml version="1.0" encoding="utf-8"?>
<p:sldLayout xmlns:p="http://schemas.openxmlformats.org/presentationml/2006/main" matchingName="DEFAULT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762518278a4f2d" /><Relationship Type="http://schemas.openxmlformats.org/officeDocument/2006/relationships/slideLayout" Target="/ppt/slideLayouts/slideLayout1.xml" Id="R52585598476c442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18F1466-6A06-4BB5-BDB6-75C3DEA29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18DA77B-2C38-4D4E-889A-DC9CE68113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32004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8575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8575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/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85598476c442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0f62c02de4123" /><Relationship Type="http://schemas.openxmlformats.org/officeDocument/2006/relationships/image" Target="/ppt/media/image.jpeg" Id="R24d98068d9434978" /><Relationship Type="http://schemas.openxmlformats.org/officeDocument/2006/relationships/notesSlide" Target="/ppt/notesSlides/notesSlide1.xml" Id="Re3f78686695c4b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bb6d74216426a" /><Relationship Type="http://schemas.openxmlformats.org/officeDocument/2006/relationships/image" Target="/ppt/media/image.jpeg" Id="R7f71c2e09f9b41c4" /><Relationship Type="http://schemas.openxmlformats.org/officeDocument/2006/relationships/notesSlide" Target="/ppt/notesSlides/notesSlide2.xml" Id="R1728e0f431634c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339ea1b59486d" /><Relationship Type="http://schemas.openxmlformats.org/officeDocument/2006/relationships/image" Target="/ppt/media/image.png" Id="Rc62738b35f3542d5" /><Relationship Type="http://schemas.openxmlformats.org/officeDocument/2006/relationships/notesSlide" Target="/ppt/notesSlides/notesSlide3.xml" Id="Rdd2552a926544b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16be8cabb4759" /><Relationship Type="http://schemas.openxmlformats.org/officeDocument/2006/relationships/image" Target="/ppt/media/image.jpeg" Id="Rc04e80a705c849c1" /><Relationship Type="http://schemas.openxmlformats.org/officeDocument/2006/relationships/notesSlide" Target="/ppt/notesSlides/notesSlide4.xml" Id="R5ab978984abc45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03f17861043a8" /><Relationship Type="http://schemas.openxmlformats.org/officeDocument/2006/relationships/image" Target="/ppt/media/image.jpeg" Id="Rfa799ef1271c421e" /><Relationship Type="http://schemas.openxmlformats.org/officeDocument/2006/relationships/notesSlide" Target="/ppt/notesSlides/notesSlide5.xml" Id="R6a3fe374286c4e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fe750303948b8" /><Relationship Type="http://schemas.openxmlformats.org/officeDocument/2006/relationships/image" Target="/ppt/media/image.jpeg" Id="R5b0b8354fd71400f" /><Relationship Type="http://schemas.openxmlformats.org/officeDocument/2006/relationships/image" Target="/ppt/media/image2.png" Id="Rdbd5d49d63804f2b" /><Relationship Type="http://schemas.openxmlformats.org/officeDocument/2006/relationships/notesSlide" Target="/ppt/notesSlides/notesSlide6.xml" Id="R340eaa8ee7b347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ae16ea3774384" /><Relationship Type="http://schemas.openxmlformats.org/officeDocument/2006/relationships/image" Target="/ppt/media/image.jpeg" Id="R51538a7d67c24cf7" /><Relationship Type="http://schemas.openxmlformats.org/officeDocument/2006/relationships/notesSlide" Target="/ppt/notesSlides/notesSlide7.xml" Id="Reba6f18c334444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706378bb34095" /><Relationship Type="http://schemas.openxmlformats.org/officeDocument/2006/relationships/image" Target="/ppt/media/image.jpeg" Id="Rf69cc9cafee84756" /><Relationship Type="http://schemas.openxmlformats.org/officeDocument/2006/relationships/notesSlide" Target="/ppt/notesSlides/notesSlide8.xml" Id="Rc662d089941443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387d19531487e" /><Relationship Type="http://schemas.openxmlformats.org/officeDocument/2006/relationships/image" Target="/ppt/media/image.png" Id="Ra12d721cb6ac49de" /><Relationship Type="http://schemas.openxmlformats.org/officeDocument/2006/relationships/notesSlide" Target="/ppt/notesSlides/notesSlide9.xml" Id="R590fcb19e51548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oogle Shape;13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d98068d94349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575B7277-0D8E-4BCE-9D3A-5A0A422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i="0" u="none" cap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01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75F0AC0-E0E5-4084-B7DB-1508168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49960"/>
            <a:ext cx="10972080" cy="13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50" b="1">
                <a:solidFill>
                  <a:srgbClr val="0F0F0F"/>
                </a:solidFill>
                <a:latin typeface="Arial"/>
                <a:ea typeface="Arial"/>
                <a:cs typeface="Arial"/>
              </a:defRPr>
            </a:pPr>
            <a:r>
              <a:rPr sz="4650" b="1" i="0" u="none" cap="none">
                <a:solidFill>
                  <a:srgbClr val="0F0F0F"/>
                </a:solidFill>
                <a:latin typeface="Arial"/>
                <a:ea typeface="Arial"/>
                <a:cs typeface="Arial"/>
              </a:rPr>
              <a:t>«Тьюринг под лупой»</a:t>
            </a:r>
            <a:endParaRPr sz="40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48F6F-4954-4253-821B-8318186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55555C"/>
                </a:solidFill>
                <a:latin typeface="Arial"/>
                <a:ea typeface="Arial"/>
                <a:cs typeface="Arial"/>
              </a:rPr>
              <a:t>Диагностический маршрут решения задания 12 КЕГЭ</a:t>
            </a:r>
          </a:p>
          <a:p xmlns:a="http://schemas.openxmlformats.org/drawingml/2006/main">
            <a:pPr>
              <a:defRPr sz="225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55555C"/>
                </a:solidFill>
                <a:latin typeface="Arial"/>
                <a:ea typeface="Arial"/>
                <a:cs typeface="Arial"/>
              </a:rPr>
              <a:t>Методическая разработка занятия для 11 класса</a:t>
            </a:r>
          </a:p>
        </p:txBody>
      </p:sp>
    </p:spTree>
    <p:extLst>
      <p:ext uri="{BB962C8B-B14F-4D97-AF65-F5344CB8AC3E}">
        <p14:creationId xmlns:p14="http://schemas.microsoft.com/office/powerpoint/2010/main" val="15707694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Google Shape;51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71c2e09f9b41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9DDFD32E-80FA-4486-A1D7-9B8474FE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i="0" u="none" cap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02</a:t>
            </a:r>
            <a:endParaRPr sz="11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7722C835-C66C-4D46-9199-00A1E5BD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  <a:endParaRPr sz="17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70A4964A-C463-4AAA-9C9C-2115332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Занятие в одном кадре</a:t>
            </a:r>
            <a:endParaRPr sz="28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8A2B3F71-17E5-4B7C-AC59-92130056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600" b="0" i="0" u="none" cap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Информатика и математика. Два урока по 45 минут.</a:t>
            </a:r>
            <a:endParaRPr sz="145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0B524B89-7762-4EC4-8670-FFACC6CF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1889E89E-B3F2-4EFF-B6CB-4FF8F531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630160"/>
            <a:ext cx="1039140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Когда трассировать, а когда рассуждать?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7EADCD79-69FB-432D-853C-3224507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Предметы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F2AB7B67-D673-417F-A035-B09EF81B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9D4F9A76-7E71-4CB1-93BB-1227CD5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Информатика + математика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15ACCE51-BB2B-467A-9A5B-59352891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2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Класс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FFA481F2-5583-45FD-98F3-B1540F2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2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429DCD54-639F-46F5-9C8A-04D6B31B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0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11 класс, 16-18 лет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1AC6BE29-36AD-4803-809E-DA3ACA6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480" y="3750120"/>
            <a:ext cx="35168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Формат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23E85E9D-72DA-4DDB-BCCE-19DFF76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480" y="4150080"/>
            <a:ext cx="3516840" cy="69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13A4A6C5-1244-4704-A11D-A8BBC047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760" y="4299840"/>
            <a:ext cx="29970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Компьютерный класс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F494453E-85FC-40D8-B877-8601E174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960"/>
            <a:ext cx="10911600" cy="1099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D54DFE03-6468-4230-93B4-DFABC598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500080"/>
            <a:ext cx="1039968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Результат занятия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12DDE954-9DCE-469B-9A11-D5460B6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870160"/>
            <a:ext cx="1039968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55555C"/>
                </a:solidFill>
                <a:latin typeface="Arial"/>
                <a:ea typeface="Arial"/>
                <a:cs typeface="Arial"/>
              </a:rPr>
              <a:t>Диагностический маршрут, который другая команда применяет без пояснений авторов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1382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1" name="Google Shape;74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2738b35f3542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7581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F2A25D5A-0CEB-418B-8A31-7904BACC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4444A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44444A"/>
                </a:solidFill>
                <a:latin typeface="Arial"/>
                <a:ea typeface="Arial"/>
                <a:cs typeface="Arial"/>
              </a:rPr>
              <a:t>03</a:t>
            </a:r>
            <a:endParaRPr sz="11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B3367A95-27E4-4B65-9B18-EB1F9398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BE74DF5A-D91B-42A1-B0F1-CEEB2974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Проблема</a:t>
            </a:r>
            <a:endParaRPr sz="2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F79A34D4-766F-42C8-BC26-777AD6BF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949968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B9B9BD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B9B9BD"/>
                </a:solidFill>
                <a:latin typeface="Arial"/>
                <a:ea typeface="Arial"/>
                <a:cs typeface="Arial"/>
              </a:rPr>
              <a:t>Полная трассировка помогает увидеть механику, но на длинной ленте повышает риск ошибки.</a:t>
            </a:r>
            <a:endParaRPr sz="14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0FEF815D-6387-41D3-B4B6-47ABDF9B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AE1FC39F-7C96-44D7-952B-DED61757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630160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Ученик механически выполняет десятки команд и теряет время.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89FEA8BA-AF6E-4A11-9879-DF161EB6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0120"/>
            <a:ext cx="1091160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083B6A70-49B8-5F69-C890-A15FA6C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0" y="3513600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36D816BA-982A-3B2E-88F4-CE152640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20" y="3663720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Ошибки накапливаются, а итоговый ответ не показывает источник затруднения.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67AA7364-7C84-F636-1E21-4875802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0" y="4588201"/>
            <a:ext cx="10911600" cy="9496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14CF3C0F-20C8-6AB7-0B61-4D38DD8A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20" y="4738321"/>
            <a:ext cx="1039968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Учителю нужен воспроизводимый способ научить выбирать стратегию и подтверждать её данными.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4636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1" name="Google Shape;9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4e80a705c849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BC08EF18-6AFE-437F-8D21-00D4BFFE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04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1F8FD9C0-3F6D-45F0-AC3C-4BBC5691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5A882343-68C7-4624-8BB0-71E4CFC9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Замысел занятия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67FF54F6-035A-4431-88A1-E38292D1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Тренажёр даёт наблюдаемые данные, математика превращает наблюдение в проверенное правило.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5885A3FF-6F0E-4E5C-B98C-D8E49756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40" y="2419920"/>
            <a:ext cx="219960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Информатика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BE6324E6-E450-4AC8-942B-C6144457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0" y="2800080"/>
            <a:ext cx="1949760" cy="1949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F7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B7B02615-A663-4F28-988D-E029F74A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60" y="2800080"/>
            <a:ext cx="1949760" cy="1949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F1BC8D62-3D1C-4527-A1A6-3399EA54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60" y="3624840"/>
            <a:ext cx="10998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78134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i="0">
                <a:solidFill>
                  <a:srgbClr val="44444A"/>
                </a:solidFill>
                <a:latin typeface="Arial"/>
                <a:ea typeface="Arial"/>
                <a:cs typeface="Arial"/>
              </a:defRPr>
            </a:pPr>
            <a:r>
              <a:rPr sz="1300" b="1" i="0" u="none">
                <a:solidFill>
                  <a:srgbClr val="44444A"/>
                </a:solidFill>
                <a:latin typeface="Arial"/>
                <a:ea typeface="Arial"/>
                <a:cs typeface="Arial"/>
              </a:rPr>
              <a:t>формальная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i="0">
                <a:solidFill>
                  <a:srgbClr val="44444A"/>
                </a:solidFill>
                <a:latin typeface="Arial"/>
                <a:ea typeface="Arial"/>
                <a:cs typeface="Arial"/>
              </a:defRPr>
            </a:pPr>
            <a:r>
              <a:rPr sz="1300" b="1" i="0" u="none">
                <a:solidFill>
                  <a:srgbClr val="44444A"/>
                </a:solidFill>
                <a:latin typeface="Arial"/>
                <a:ea typeface="Arial"/>
                <a:cs typeface="Arial"/>
              </a:rPr>
              <a:t>модель</a:t>
            </a:r>
            <a:endParaRPr sz="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7">
            <a:extLst xmlns:a="http://schemas.openxmlformats.org/drawingml/2006/main">
              <a:ext uri="{FF2B5EF4-FFF2-40B4-BE49-F238E27FC236}">
                <a16:creationId xmlns:a16="http://schemas.microsoft.com/office/drawing/2014/main" id="{BC2260BD-003B-4159-B55D-E094DCCB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00" y="4830120"/>
            <a:ext cx="23497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Математика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7">
            <a:extLst xmlns:a="http://schemas.openxmlformats.org/drawingml/2006/main">
              <a:ext uri="{FF2B5EF4-FFF2-40B4-BE49-F238E27FC236}">
                <a16:creationId xmlns:a16="http://schemas.microsoft.com/office/drawing/2014/main" id="{37677775-09E5-4DB8-82D4-2D5CD884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040" y="3575160"/>
            <a:ext cx="49968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u="none">
                <a:solidFill>
                  <a:srgbClr val="8A8A8E"/>
                </a:solidFill>
                <a:latin typeface="Arial"/>
                <a:ea typeface="Arial"/>
                <a:cs typeface="Arial"/>
              </a:rPr>
              <a:t/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Google Shape;105;p7">
            <a:extLst xmlns:a="http://schemas.openxmlformats.org/drawingml/2006/main">
              <a:ext uri="{FF2B5EF4-FFF2-40B4-BE49-F238E27FC236}">
                <a16:creationId xmlns:a16="http://schemas.microsoft.com/office/drawing/2014/main" id="{06679169-05CD-4913-AA93-91E1C56B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920" y="2750040"/>
            <a:ext cx="8049600" cy="184968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7">
            <a:extLst xmlns:a="http://schemas.openxmlformats.org/drawingml/2006/main">
              <a:ext uri="{FF2B5EF4-FFF2-40B4-BE49-F238E27FC236}">
                <a16:creationId xmlns:a16="http://schemas.microsoft.com/office/drawing/2014/main" id="{D7D4B294-0CF9-42EF-B796-A5B8D50F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00" y="2900160"/>
            <a:ext cx="754956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Исследование стратегии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EA346542-BC67-4C20-9BC0-CF5A3397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00" y="3380040"/>
            <a:ext cx="7529760" cy="1099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D3F0A876-CE77-4B94-8908-D61036DD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920" y="3530160"/>
            <a:ext cx="7009560" cy="79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44444A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44444A"/>
                </a:solidFill>
                <a:latin typeface="Arial"/>
                <a:ea typeface="Arial"/>
                <a:cs typeface="Arial"/>
              </a:rPr>
              <a:t>Ученики сравнивают полную трассировку, несколько проверочных шагов и аналитическое решение. Тренажёр показывает ход машины, а правило проверяется на обычном и граничном примерах.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CB687BFF-686E-447F-A5B4-7E095225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96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rgbClr val="55555C"/>
                </a:solidFill>
                <a:latin typeface="Arial"/>
                <a:ea typeface="Arial"/>
                <a:cs typeface="Arial"/>
              </a:defRPr>
            </a:pPr>
            <a:r>
              <a:rPr sz="1500" b="1" i="0" u="none">
                <a:solidFill>
                  <a:srgbClr val="55555C"/>
                </a:solidFill>
                <a:latin typeface="Arial"/>
                <a:ea typeface="Arial"/>
                <a:cs typeface="Arial"/>
              </a:rPr>
              <a:t>Проектный вопрос: когда симуляция помогает, а когда пора переходить к аналитическому решению?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91327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1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799ef1271c42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626772E2-F9BD-45B3-A943-1F114590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05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332D73A5-1E3C-4918-A978-CB4E6FCD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E5C81588-5BA0-43C4-ACCE-72711A70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Пять спринтов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9C0F670B-7C2E-4551-8C3B-157B38C7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331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Каждый спринт оставляет проверяемый артефакт для итогового маршрута.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87EA0BEE-CB2F-4B05-A386-2959440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48240"/>
            <a:ext cx="10911600" cy="819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DDCD857C-DE3E-40B5-AA01-D5891B6F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178200"/>
            <a:ext cx="479520" cy="479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DDA93C76-4940-4856-B37D-F5800E75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80" y="2138240"/>
            <a:ext cx="3299760" cy="41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Исходная стратегия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137D6805-435C-4339-BE68-B0A6F2BF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60" y="2138240"/>
            <a:ext cx="4999680" cy="5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Входная задача и первый способ рассуждения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45EED524-478C-4A42-B67E-5971B24F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160" y="2178200"/>
            <a:ext cx="1199520" cy="47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10 мин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Google Shape;124;p8">
            <a:extLst xmlns:a="http://schemas.openxmlformats.org/drawingml/2006/main">
              <a:ext uri="{FF2B5EF4-FFF2-40B4-BE49-F238E27FC236}">
                <a16:creationId xmlns:a16="http://schemas.microsoft.com/office/drawing/2014/main" id="{8F45978D-2B49-4631-AB30-71F9AC0D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68040"/>
            <a:ext cx="10911600" cy="819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DA9D4E84-7FC5-4E79-AFCF-CA38682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3098360"/>
            <a:ext cx="479520" cy="479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D76A53C1-E402-44B1-868C-A711B3CC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80" y="3058040"/>
            <a:ext cx="3299760" cy="41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Эксперимент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9CEEAE39-3ABF-46E0-BD80-D31D8ACD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60" y="3058040"/>
            <a:ext cx="4999680" cy="5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Три попытки: время, шаги, подсказки и ошибки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76497CE9-D660-4FE6-8DA6-0952E292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160" y="3098360"/>
            <a:ext cx="1199520" cy="47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20 мин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A34EAC56-CB89-4B0B-9D1A-90141641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8200"/>
            <a:ext cx="10911600" cy="819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8">
            <a:extLst xmlns:a="http://schemas.openxmlformats.org/drawingml/2006/main">
              <a:ext uri="{FF2B5EF4-FFF2-40B4-BE49-F238E27FC236}">
                <a16:creationId xmlns:a16="http://schemas.microsoft.com/office/drawing/2014/main" id="{AF1AE6BC-851A-494F-9A5F-9F27C526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4018160"/>
            <a:ext cx="479520" cy="479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Google Shape;131;p8">
            <a:extLst xmlns:a="http://schemas.openxmlformats.org/drawingml/2006/main">
              <a:ext uri="{FF2B5EF4-FFF2-40B4-BE49-F238E27FC236}">
                <a16:creationId xmlns:a16="http://schemas.microsoft.com/office/drawing/2014/main" id="{26A33162-71E7-4847-BD43-B6194AA0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80" y="3978200"/>
            <a:ext cx="3299760" cy="41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Закономерность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8">
            <a:extLst xmlns:a="http://schemas.openxmlformats.org/drawingml/2006/main">
              <a:ext uri="{FF2B5EF4-FFF2-40B4-BE49-F238E27FC236}">
                <a16:creationId xmlns:a16="http://schemas.microsoft.com/office/drawing/2014/main" id="{761E7415-6D23-4FF5-A151-A267DC27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60" y="3978200"/>
            <a:ext cx="4999680" cy="5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Цикл или инвариант, обычный и граничный пример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F85BFEAD-5469-4B94-A9A7-F7BAED78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160" y="4018160"/>
            <a:ext cx="1199520" cy="47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15 мин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41595D2D-8B7B-4FDB-874A-D25DC67A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8360"/>
            <a:ext cx="10911600" cy="819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E32DC6AF-D9E5-4C63-8919-36A7AD9E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4938320"/>
            <a:ext cx="479520" cy="479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1DD236A2-E5AA-4281-A852-799E6F4F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80" y="4898360"/>
            <a:ext cx="3299760" cy="41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Сборка маршрута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F0C7AAAF-362D-43C6-81E0-2F68A955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60" y="4898360"/>
            <a:ext cx="4999680" cy="5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Три ветви стратегии, пример и карта ошибок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137D4D57-0603-474C-ACE9-DE163B3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160" y="4938320"/>
            <a:ext cx="1199520" cy="47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30 мин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FA4FEA90-73F5-BDB8-70C0-963A245C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0" y="5678930"/>
            <a:ext cx="10911600" cy="819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FA4B0788-8D05-B43B-6E7C-B8178B07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20" y="5808890"/>
            <a:ext cx="479520" cy="479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382C2047-10A3-E0C8-E990-65E4AEC5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000" y="5768930"/>
            <a:ext cx="3299760" cy="41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i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Перекрёстная проверка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25F9033D-AE2B-2DFF-11F4-989BAE51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280" y="5768930"/>
            <a:ext cx="4999680" cy="5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Другая команда применяет маршрут без пояснений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26B9EA62-1035-6505-1FBA-CFEA4569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280" y="5808890"/>
            <a:ext cx="1199520" cy="47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15 мин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0882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2" name="Google Shape;14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0b8354fd7140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18EF8A7C-FE89-4FAD-831D-2984C2F3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06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4E71246D-39B5-4479-B9E1-6A839710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Google Shape;146;p9">
            <a:extLst xmlns:a="http://schemas.openxmlformats.org/drawingml/2006/main">
              <a:ext uri="{FF2B5EF4-FFF2-40B4-BE49-F238E27FC236}">
                <a16:creationId xmlns:a16="http://schemas.microsoft.com/office/drawing/2014/main" id="{584F2DDA-2CEB-4C20-A0B3-0BFE3CDE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Продукт и тренажёр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Google Shape;147;p9">
            <a:extLst xmlns:a="http://schemas.openxmlformats.org/drawingml/2006/main">
              <a:ext uri="{FF2B5EF4-FFF2-40B4-BE49-F238E27FC236}">
                <a16:creationId xmlns:a16="http://schemas.microsoft.com/office/drawing/2014/main" id="{1EC091F5-2F37-4BCC-8DD8-E1D746BF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Маршрут создаёт ученик. Тренажёр помогает получить данные и проверить объяснение.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Google Shape;148;p9">
            <a:extLst xmlns:a="http://schemas.openxmlformats.org/drawingml/2006/main">
              <a:ext uri="{FF2B5EF4-FFF2-40B4-BE49-F238E27FC236}">
                <a16:creationId xmlns:a16="http://schemas.microsoft.com/office/drawing/2014/main" id="{BD59EF30-6871-41CE-9013-39B020A1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5278680" cy="3699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9">
            <a:extLst xmlns:a="http://schemas.openxmlformats.org/drawingml/2006/main">
              <a:ext uri="{FF2B5EF4-FFF2-40B4-BE49-F238E27FC236}">
                <a16:creationId xmlns:a16="http://schemas.microsoft.com/office/drawing/2014/main" id="{81AB98CD-CCFB-4770-921E-59CE2B84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710080"/>
            <a:ext cx="47786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Диагностический маршрут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BB42874E-BCFF-42CB-BA61-002A6F2B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3179880"/>
            <a:ext cx="4758480" cy="11494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155EF8BE-D4F3-4806-BC81-71F8ED9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20" y="3330000"/>
            <a:ext cx="423864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0">
                <a:solidFill>
                  <a:srgbClr val="44444A"/>
                </a:solidFill>
                <a:latin typeface="Arial"/>
                <a:ea typeface="Arial"/>
                <a:cs typeface="Arial"/>
              </a:defRPr>
            </a:pPr>
            <a:r>
              <a:rPr sz="1400" b="0" i="0" u="none">
                <a:solidFill>
                  <a:srgbClr val="44444A"/>
                </a:solidFill>
                <a:latin typeface="Arial"/>
                <a:ea typeface="Arial"/>
                <a:cs typeface="Arial"/>
              </a:rPr>
              <a:t>Алгоритм выбора стратегии, данные трёх попыток, разбор машины, карта ошибок и проверочный пример.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D7DA4624-3F55-4438-9D0F-8BA27AD2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4529880"/>
            <a:ext cx="47786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Критерии готовности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19F4BFB7-89CD-4076-903B-77E73701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4929840"/>
            <a:ext cx="34956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u="none">
                <a:solidFill>
                  <a:srgbClr val="2C7A39"/>
                </a:solidFill>
                <a:latin typeface="Arial"/>
                <a:ea typeface="Arial"/>
                <a:cs typeface="Arial"/>
              </a:rPr>
              <a:t>✓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E5F7630A-6A27-404E-949A-1200F9C0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20" y="4929840"/>
            <a:ext cx="425880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Три стратегии различены по наблюдаемым признакам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Google Shape;155;p9">
            <a:extLst xmlns:a="http://schemas.openxmlformats.org/drawingml/2006/main">
              <a:ext uri="{FF2B5EF4-FFF2-40B4-BE49-F238E27FC236}">
                <a16:creationId xmlns:a16="http://schemas.microsoft.com/office/drawing/2014/main" id="{0432501E-E033-4FA5-AD0C-E3B8B200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349960"/>
            <a:ext cx="34956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u="none">
                <a:solidFill>
                  <a:srgbClr val="2C7A39"/>
                </a:solidFill>
                <a:latin typeface="Arial"/>
                <a:ea typeface="Arial"/>
                <a:cs typeface="Arial"/>
              </a:rPr>
              <a:t>✓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2777B855-68BD-4DF4-A556-7AD5B521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20" y="5349960"/>
            <a:ext cx="425880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96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Выводы подтверждены обычным и граничным примером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Google Shape;157;p9">
            <a:extLst xmlns:a="http://schemas.openxmlformats.org/drawingml/2006/main">
              <a:ext uri="{FF2B5EF4-FFF2-40B4-BE49-F238E27FC236}">
                <a16:creationId xmlns:a16="http://schemas.microsoft.com/office/drawing/2014/main" id="{62D882A5-5587-4CBB-8625-83988030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770080"/>
            <a:ext cx="34956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u="none">
                <a:solidFill>
                  <a:srgbClr val="2C7A39"/>
                </a:solidFill>
                <a:latin typeface="Arial"/>
                <a:ea typeface="Arial"/>
                <a:cs typeface="Arial"/>
              </a:rPr>
              <a:t>✓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Google Shape;158;p9">
            <a:extLst xmlns:a="http://schemas.openxmlformats.org/drawingml/2006/main">
              <a:ext uri="{FF2B5EF4-FFF2-40B4-BE49-F238E27FC236}">
                <a16:creationId xmlns:a16="http://schemas.microsoft.com/office/drawing/2014/main" id="{8AF88923-0C55-4D84-B961-7891B2E8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20" y="5770080"/>
            <a:ext cx="425880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Маршрут применён другой командой без пояснений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E9B7E612-E154-44A0-AA16-21D3F5E3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20" y="2480040"/>
            <a:ext cx="5278680" cy="3699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2FE7937D-C8EC-4207-9D27-FEDC0B4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2710080"/>
            <a:ext cx="47786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Тренажёр как исследовательский стенд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Google Shape;161;p9">
            <a:extLst xmlns:a="http://schemas.openxmlformats.org/drawingml/2006/main">
              <a:ext uri="{FF2B5EF4-FFF2-40B4-BE49-F238E27FC236}">
                <a16:creationId xmlns:a16="http://schemas.microsoft.com/office/drawing/2014/main" id="{46D27524-7D18-45F7-BB2A-27F27FDE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3179880"/>
            <a:ext cx="4758480" cy="59976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400AB2AE-7AB3-447D-80AA-B8152C20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960" y="3179880"/>
            <a:ext cx="4278600" cy="5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5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150" b="0" i="0" u="none">
                <a:solidFill>
                  <a:srgbClr val="333333"/>
                </a:solidFill>
                <a:latin typeface="Arial"/>
                <a:ea typeface="Arial"/>
                <a:cs typeface="Arial"/>
              </a:rPr>
              <a:t>github.com/AlexeyDesyatnik/TuringTrainer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9">
            <a:extLst xmlns:a="http://schemas.openxmlformats.org/drawingml/2006/main">
              <a:ext uri="{FF2B5EF4-FFF2-40B4-BE49-F238E27FC236}">
                <a16:creationId xmlns:a16="http://schemas.microsoft.com/office/drawing/2014/main" id="{74464756-AFA0-4295-8914-3078F85A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3980160"/>
            <a:ext cx="47786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u="none">
                <a:solidFill>
                  <a:srgbClr val="0F0F0F"/>
                </a:solidFill>
                <a:latin typeface="Arial"/>
                <a:ea typeface="Arial"/>
                <a:cs typeface="Arial"/>
              </a:rPr>
              <a:t/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4FF1C098-1817-4711-8983-4961DDF1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4510080"/>
            <a:ext cx="159480" cy="15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9">
            <a:extLst xmlns:a="http://schemas.openxmlformats.org/drawingml/2006/main">
              <a:ext uri="{FF2B5EF4-FFF2-40B4-BE49-F238E27FC236}">
                <a16:creationId xmlns:a16="http://schemas.microsoft.com/office/drawing/2014/main" id="{D510AA9E-5ED5-4C35-9C03-7882DBF8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80" y="4380120"/>
            <a:ext cx="4478760" cy="3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u="none">
                <a:solidFill>
                  <a:srgbClr val="5A5A5E"/>
                </a:solidFill>
                <a:latin typeface="Arial"/>
                <a:ea typeface="Arial"/>
                <a:cs typeface="Arial"/>
              </a:rPr>
              <a:t/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73FB0B96-9CFC-4014-B833-FA78D59C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4989960"/>
            <a:ext cx="159480" cy="15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9">
            <a:extLst xmlns:a="http://schemas.openxmlformats.org/drawingml/2006/main">
              <a:ext uri="{FF2B5EF4-FFF2-40B4-BE49-F238E27FC236}">
                <a16:creationId xmlns:a16="http://schemas.microsoft.com/office/drawing/2014/main" id="{FA03A39C-F31D-409E-9432-C58F5072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80" y="4860000"/>
            <a:ext cx="4478760" cy="3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u="none">
                <a:solidFill>
                  <a:srgbClr val="5A5A5E"/>
                </a:solidFill>
                <a:latin typeface="Arial"/>
                <a:ea typeface="Arial"/>
                <a:cs typeface="Arial"/>
              </a:rPr>
              <a:t/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A1824774-4CDA-4DFE-AAE2-58362582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5469840"/>
            <a:ext cx="159480" cy="15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030A3CA0-79E8-4B81-9B43-7082C28E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80" y="5339880"/>
            <a:ext cx="4478760" cy="3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u="none">
                <a:solidFill>
                  <a:srgbClr val="5A5A5E"/>
                </a:solidFill>
                <a:latin typeface="Arial"/>
                <a:ea typeface="Arial"/>
                <a:cs typeface="Arial"/>
              </a:rPr>
              <a:t/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5d49d63804f2b"/>
          <a:srcRect xmlns:a="http://schemas.openxmlformats.org/drawingml/2006/main" l="0" t="17402" r="0" b="17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9825" y="3829050"/>
            <a:ext cx="5095875" cy="207645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</p:spTree>
    <p:extLst>
      <p:ext uri="{BB962C8B-B14F-4D97-AF65-F5344CB8AC3E}">
        <p14:creationId xmlns:p14="http://schemas.microsoft.com/office/powerpoint/2010/main" val="21417836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2" name="Google Shape;17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538a7d67c24c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5" name="Google Shape;175;p10">
            <a:extLst xmlns:a="http://schemas.openxmlformats.org/drawingml/2006/main">
              <a:ext uri="{FF2B5EF4-FFF2-40B4-BE49-F238E27FC236}">
                <a16:creationId xmlns:a16="http://schemas.microsoft.com/office/drawing/2014/main" id="{0D84E8CA-5C98-4ADC-A6DE-B97A7DED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07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Google Shape;176;p10">
            <a:extLst xmlns:a="http://schemas.openxmlformats.org/drawingml/2006/main">
              <a:ext uri="{FF2B5EF4-FFF2-40B4-BE49-F238E27FC236}">
                <a16:creationId xmlns:a16="http://schemas.microsoft.com/office/drawing/2014/main" id="{FFD13A09-B3DE-4E25-9256-197DF54B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Google Shape;177;p10">
            <a:extLst xmlns:a="http://schemas.openxmlformats.org/drawingml/2006/main">
              <a:ext uri="{FF2B5EF4-FFF2-40B4-BE49-F238E27FC236}">
                <a16:creationId xmlns:a16="http://schemas.microsoft.com/office/drawing/2014/main" id="{685F924E-1E6E-4B37-BEB9-B9B422C8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Как оценим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Google Shape;178;p10">
            <a:extLst xmlns:a="http://schemas.openxmlformats.org/drawingml/2006/main">
              <a:ext uri="{FF2B5EF4-FFF2-40B4-BE49-F238E27FC236}">
                <a16:creationId xmlns:a16="http://schemas.microsoft.com/office/drawing/2014/main" id="{A375E9A5-C8F4-4134-9768-3429B84C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Целевые показатели первого проведения. После пилота пороги уточняются.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Google Shape;179;p10">
            <a:extLst xmlns:a="http://schemas.openxmlformats.org/drawingml/2006/main">
              <a:ext uri="{FF2B5EF4-FFF2-40B4-BE49-F238E27FC236}">
                <a16:creationId xmlns:a16="http://schemas.microsoft.com/office/drawing/2014/main" id="{DB61F626-1F0C-4A9D-B654-1257F253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5278680" cy="184968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Google Shape;180;p10">
            <a:extLst xmlns:a="http://schemas.openxmlformats.org/drawingml/2006/main">
              <a:ext uri="{FF2B5EF4-FFF2-40B4-BE49-F238E27FC236}">
                <a16:creationId xmlns:a16="http://schemas.microsoft.com/office/drawing/2014/main" id="{DF410836-57AC-4186-BE1D-AC5FC64D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679840"/>
            <a:ext cx="47786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Главный ориентир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Google Shape;181;p10">
            <a:extLst xmlns:a="http://schemas.openxmlformats.org/drawingml/2006/main">
              <a:ext uri="{FF2B5EF4-FFF2-40B4-BE49-F238E27FC236}">
                <a16:creationId xmlns:a16="http://schemas.microsoft.com/office/drawing/2014/main" id="{42513886-2067-4779-AC19-5C67B966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3080160"/>
            <a:ext cx="1699560" cy="649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" name="Google Shape;182;p10">
            <a:extLst xmlns:a="http://schemas.openxmlformats.org/drawingml/2006/main">
              <a:ext uri="{FF2B5EF4-FFF2-40B4-BE49-F238E27FC236}">
                <a16:creationId xmlns:a16="http://schemas.microsoft.com/office/drawing/2014/main" id="{1A04FB7D-1AC4-4BC4-B101-BEC15386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3080160"/>
            <a:ext cx="1699560" cy="64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≥80%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Google Shape;183;p10">
            <a:extLst xmlns:a="http://schemas.openxmlformats.org/drawingml/2006/main">
              <a:ext uri="{FF2B5EF4-FFF2-40B4-BE49-F238E27FC236}">
                <a16:creationId xmlns:a16="http://schemas.microsoft.com/office/drawing/2014/main" id="{73F00B60-8DD5-4A9C-A81C-BDB97855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3809880"/>
            <a:ext cx="4678560" cy="47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i="0">
                <a:solidFill>
                  <a:srgbClr val="183412"/>
                </a:solidFill>
                <a:latin typeface="Arial"/>
                <a:ea typeface="Arial"/>
                <a:cs typeface="Arial"/>
              </a:defRPr>
            </a:pPr>
            <a:r>
              <a:rPr sz="1300" b="0" i="0" u="none">
                <a:solidFill>
                  <a:srgbClr val="183412"/>
                </a:solidFill>
                <a:latin typeface="Arial"/>
                <a:ea typeface="Arial"/>
                <a:cs typeface="Arial"/>
              </a:rPr>
              <a:t>учеников решают итоговый кейс без подсказок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Google Shape;184;p10">
            <a:extLst xmlns:a="http://schemas.openxmlformats.org/drawingml/2006/main">
              <a:ext uri="{FF2B5EF4-FFF2-40B4-BE49-F238E27FC236}">
                <a16:creationId xmlns:a16="http://schemas.microsoft.com/office/drawing/2014/main" id="{EEF0153C-D6EF-44A6-92FC-54D4469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20" y="2480040"/>
            <a:ext cx="5278680" cy="184968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10">
            <a:extLst xmlns:a="http://schemas.openxmlformats.org/drawingml/2006/main">
              <a:ext uri="{FF2B5EF4-FFF2-40B4-BE49-F238E27FC236}">
                <a16:creationId xmlns:a16="http://schemas.microsoft.com/office/drawing/2014/main" id="{BF29F351-7E78-44D9-A1FC-4DABF102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2679840"/>
            <a:ext cx="477864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Дополнительные показатели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Google Shape;186;p10">
            <a:extLst xmlns:a="http://schemas.openxmlformats.org/drawingml/2006/main">
              <a:ext uri="{FF2B5EF4-FFF2-40B4-BE49-F238E27FC236}">
                <a16:creationId xmlns:a16="http://schemas.microsoft.com/office/drawing/2014/main" id="{CF094D4B-03C3-412E-930D-5E93BE57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3179880"/>
            <a:ext cx="159480" cy="15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" name="Google Shape;187;p10">
            <a:extLst xmlns:a="http://schemas.openxmlformats.org/drawingml/2006/main">
              <a:ext uri="{FF2B5EF4-FFF2-40B4-BE49-F238E27FC236}">
                <a16:creationId xmlns:a16="http://schemas.microsoft.com/office/drawing/2014/main" id="{91AE792B-E62A-4293-A2B6-50D5983D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80" y="3080160"/>
            <a:ext cx="4478760" cy="3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9432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≥75% маршрутов применены другой командой без пояснений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Google Shape;188;p10">
            <a:extLst xmlns:a="http://schemas.openxmlformats.org/drawingml/2006/main">
              <a:ext uri="{FF2B5EF4-FFF2-40B4-BE49-F238E27FC236}">
                <a16:creationId xmlns:a16="http://schemas.microsoft.com/office/drawing/2014/main" id="{D72C9DD2-0E3C-4235-AF9D-0F104DE8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3579840"/>
            <a:ext cx="159480" cy="15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Google Shape;189;p10">
            <a:extLst xmlns:a="http://schemas.openxmlformats.org/drawingml/2006/main">
              <a:ext uri="{FF2B5EF4-FFF2-40B4-BE49-F238E27FC236}">
                <a16:creationId xmlns:a16="http://schemas.microsoft.com/office/drawing/2014/main" id="{DDEC2DC6-F552-479D-BC72-0BA8C4EB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80" y="3480120"/>
            <a:ext cx="4478760" cy="3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9865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≥80% команд находят не менее 2 из 3 заложенных ошибок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Google Shape;190;p10">
            <a:extLst xmlns:a="http://schemas.openxmlformats.org/drawingml/2006/main">
              <a:ext uri="{FF2B5EF4-FFF2-40B4-BE49-F238E27FC236}">
                <a16:creationId xmlns:a16="http://schemas.microsoft.com/office/drawing/2014/main" id="{0F8A21FA-2654-4467-ABCE-9E78234B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00" y="3980160"/>
            <a:ext cx="159480" cy="15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Google Shape;191;p10">
            <a:extLst xmlns:a="http://schemas.openxmlformats.org/drawingml/2006/main">
              <a:ext uri="{FF2B5EF4-FFF2-40B4-BE49-F238E27FC236}">
                <a16:creationId xmlns:a16="http://schemas.microsoft.com/office/drawing/2014/main" id="{053505B3-87E2-4E24-9E44-49E15EB5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80" y="3880080"/>
            <a:ext cx="4478760" cy="3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100% использованных ответов ИИ проверены</a:t>
            </a:r>
            <a:endParaRPr sz="11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Google Shape;192;p10">
            <a:extLst xmlns:a="http://schemas.openxmlformats.org/drawingml/2006/main">
              <a:ext uri="{FF2B5EF4-FFF2-40B4-BE49-F238E27FC236}">
                <a16:creationId xmlns:a16="http://schemas.microsoft.com/office/drawing/2014/main" id="{AF730A10-ABD4-4E22-93EB-A066379B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9920"/>
            <a:ext cx="1091160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Доказательства результата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Google Shape;193;p10">
            <a:extLst xmlns:a="http://schemas.openxmlformats.org/drawingml/2006/main">
              <a:ext uri="{FF2B5EF4-FFF2-40B4-BE49-F238E27FC236}">
                <a16:creationId xmlns:a16="http://schemas.microsoft.com/office/drawing/2014/main" id="{956CF196-1C14-4C1B-99BD-A8A3C525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920"/>
            <a:ext cx="349560" cy="349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" name="Google Shape;194;p10">
            <a:extLst xmlns:a="http://schemas.openxmlformats.org/drawingml/2006/main">
              <a:ext uri="{FF2B5EF4-FFF2-40B4-BE49-F238E27FC236}">
                <a16:creationId xmlns:a16="http://schemas.microsoft.com/office/drawing/2014/main" id="{900A5F3E-AC89-489F-B4C8-0D92FE05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80" y="5029920"/>
            <a:ext cx="499968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Входной и итоговый замер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Google Shape;195;p10">
            <a:extLst xmlns:a="http://schemas.openxmlformats.org/drawingml/2006/main">
              <a:ext uri="{FF2B5EF4-FFF2-40B4-BE49-F238E27FC236}">
                <a16:creationId xmlns:a16="http://schemas.microsoft.com/office/drawing/2014/main" id="{22A929C6-8EB1-4CCE-A422-31EA00B7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240" y="5029920"/>
            <a:ext cx="349560" cy="349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B7C8B3F8-36FA-4ECD-BFFA-30D96AF6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240" y="5029920"/>
            <a:ext cx="499968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Данные минимум трёх попыток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95EC39D3-914E-4718-9A25-B888D7B4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10160"/>
            <a:ext cx="349560" cy="349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Google Shape;198;p10">
            <a:extLst xmlns:a="http://schemas.openxmlformats.org/drawingml/2006/main">
              <a:ext uri="{FF2B5EF4-FFF2-40B4-BE49-F238E27FC236}">
                <a16:creationId xmlns:a16="http://schemas.microsoft.com/office/drawing/2014/main" id="{BF337178-520F-4F14-91B5-B5F8AB57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80" y="5510160"/>
            <a:ext cx="499968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Независимая проверка продукта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Google Shape;199;p10">
            <a:extLst xmlns:a="http://schemas.openxmlformats.org/drawingml/2006/main">
              <a:ext uri="{FF2B5EF4-FFF2-40B4-BE49-F238E27FC236}">
                <a16:creationId xmlns:a16="http://schemas.microsoft.com/office/drawing/2014/main" id="{30A6D38F-DE62-4810-8F50-02BFBFED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240" y="5510160"/>
            <a:ext cx="349560" cy="3495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p10">
            <a:extLst xmlns:a="http://schemas.openxmlformats.org/drawingml/2006/main">
              <a:ext uri="{FF2B5EF4-FFF2-40B4-BE49-F238E27FC236}">
                <a16:creationId xmlns:a16="http://schemas.microsoft.com/office/drawing/2014/main" id="{E00F0F93-3427-466F-986B-772C36CD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240" y="5510160"/>
            <a:ext cx="499968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25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Рубрикатор продукта от 0 до 15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3209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6" name="Google Shape;205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9cc9cafee847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6" name="Google Shape;206;p11">
            <a:extLst xmlns:a="http://schemas.openxmlformats.org/drawingml/2006/main">
              <a:ext uri="{FF2B5EF4-FFF2-40B4-BE49-F238E27FC236}">
                <a16:creationId xmlns:a16="http://schemas.microsoft.com/office/drawing/2014/main" id="{29475DCC-78E7-4760-9AEE-E7B36846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D9D9DE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D9D9DE"/>
                </a:solidFill>
                <a:latin typeface="Arial"/>
                <a:ea typeface="Arial"/>
                <a:cs typeface="Arial"/>
              </a:rPr>
              <a:t>08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Google Shape;207;p11">
            <a:extLst xmlns:a="http://schemas.openxmlformats.org/drawingml/2006/main">
              <a:ext uri="{FF2B5EF4-FFF2-40B4-BE49-F238E27FC236}">
                <a16:creationId xmlns:a16="http://schemas.microsoft.com/office/drawing/2014/main" id="{D2E7F322-7722-4A65-A5B3-BBEC5E62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0040"/>
            <a:ext cx="499680" cy="499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7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Google Shape;208;p11">
            <a:extLst xmlns:a="http://schemas.openxmlformats.org/drawingml/2006/main">
              <a:ext uri="{FF2B5EF4-FFF2-40B4-BE49-F238E27FC236}">
                <a16:creationId xmlns:a16="http://schemas.microsoft.com/office/drawing/2014/main" id="{775E409E-1A61-4F5C-AEAC-20135726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130040"/>
            <a:ext cx="7999560" cy="49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Готовый комплект и внедрение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Google Shape;209;p11">
            <a:extLst xmlns:a="http://schemas.openxmlformats.org/drawingml/2006/main">
              <a:ext uri="{FF2B5EF4-FFF2-40B4-BE49-F238E27FC236}">
                <a16:creationId xmlns:a16="http://schemas.microsoft.com/office/drawing/2014/main" id="{6852ED16-7D23-42E1-8D07-DFE71C53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0160"/>
            <a:ext cx="1091160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Занятие можно провести онлайн, автономно или по печатным материалам.</a:t>
            </a:r>
            <a:endParaRPr sz="1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Google Shape;210;p11">
            <a:extLst xmlns:a="http://schemas.openxmlformats.org/drawingml/2006/main">
              <a:ext uri="{FF2B5EF4-FFF2-40B4-BE49-F238E27FC236}">
                <a16:creationId xmlns:a16="http://schemas.microsoft.com/office/drawing/2014/main" id="{DDC1B7BE-CC76-4B26-BBE0-71763EE3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0040"/>
            <a:ext cx="3565440" cy="269964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11">
            <a:extLst xmlns:a="http://schemas.openxmlformats.org/drawingml/2006/main">
              <a:ext uri="{FF2B5EF4-FFF2-40B4-BE49-F238E27FC236}">
                <a16:creationId xmlns:a16="http://schemas.microsoft.com/office/drawing/2014/main" id="{D54B551B-1CF4-4E5B-9054-2C033B1C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960" y="2480040"/>
            <a:ext cx="219600" cy="129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" name="Google Shape;212;p11">
            <a:extLst xmlns:a="http://schemas.openxmlformats.org/drawingml/2006/main">
              <a:ext uri="{FF2B5EF4-FFF2-40B4-BE49-F238E27FC236}">
                <a16:creationId xmlns:a16="http://schemas.microsoft.com/office/drawing/2014/main" id="{352E3DA9-7FC3-44DA-B13A-97D03E6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2710080"/>
            <a:ext cx="28656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Один класс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Google Shape;213;p11">
            <a:extLst xmlns:a="http://schemas.openxmlformats.org/drawingml/2006/main">
              <a:ext uri="{FF2B5EF4-FFF2-40B4-BE49-F238E27FC236}">
                <a16:creationId xmlns:a16="http://schemas.microsoft.com/office/drawing/2014/main" id="{AFC63F72-4046-48BD-8520-4F3A5919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3229920"/>
            <a:ext cx="306540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30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Тренажёр, рабочий лист, маршрут, КИМы и рубрикатор. Два урока по 45 минут.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Google Shape;214;p11">
            <a:extLst xmlns:a="http://schemas.openxmlformats.org/drawingml/2006/main">
              <a:ext uri="{FF2B5EF4-FFF2-40B4-BE49-F238E27FC236}">
                <a16:creationId xmlns:a16="http://schemas.microsoft.com/office/drawing/2014/main" id="{AC4B2B6F-06E6-4E46-89CC-73B76BAF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040" y="2480040"/>
            <a:ext cx="3565440" cy="269964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p11">
            <a:extLst xmlns:a="http://schemas.openxmlformats.org/drawingml/2006/main">
              <a:ext uri="{FF2B5EF4-FFF2-40B4-BE49-F238E27FC236}">
                <a16:creationId xmlns:a16="http://schemas.microsoft.com/office/drawing/2014/main" id="{A1EBD79E-2026-4E7C-883F-3D0976FF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4560" y="2480040"/>
            <a:ext cx="219600" cy="129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11">
            <a:extLst xmlns:a="http://schemas.openxmlformats.org/drawingml/2006/main">
              <a:ext uri="{FF2B5EF4-FFF2-40B4-BE49-F238E27FC236}">
                <a16:creationId xmlns:a16="http://schemas.microsoft.com/office/drawing/2014/main" id="{20CE0367-3EC6-4C96-88DF-D251CE55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960" y="2710080"/>
            <a:ext cx="28656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Параллель или школа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11">
            <a:extLst xmlns:a="http://schemas.openxmlformats.org/drawingml/2006/main">
              <a:ext uri="{FF2B5EF4-FFF2-40B4-BE49-F238E27FC236}">
                <a16:creationId xmlns:a16="http://schemas.microsoft.com/office/drawing/2014/main" id="{41FEE780-FEDA-4CAB-8567-0582F75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960" y="3229920"/>
            <a:ext cx="306540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30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Комплект учителя и автономный HTML позволяют повторить занятие по готовому сценарию.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Google Shape;218;p11">
            <a:extLst xmlns:a="http://schemas.openxmlformats.org/drawingml/2006/main">
              <a:ext uri="{FF2B5EF4-FFF2-40B4-BE49-F238E27FC236}">
                <a16:creationId xmlns:a16="http://schemas.microsoft.com/office/drawing/2014/main" id="{EEBC1ED8-6A45-4B34-948B-17C8DAC3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640" y="2480040"/>
            <a:ext cx="3565440" cy="269964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9D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11">
            <a:extLst xmlns:a="http://schemas.openxmlformats.org/drawingml/2006/main">
              <a:ext uri="{FF2B5EF4-FFF2-40B4-BE49-F238E27FC236}">
                <a16:creationId xmlns:a16="http://schemas.microsoft.com/office/drawing/2014/main" id="{DD877440-A62D-4992-AFC3-B694E633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3520" y="2480040"/>
            <a:ext cx="219600" cy="129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C8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" name="Google Shape;220;p11">
            <a:extLst xmlns:a="http://schemas.openxmlformats.org/drawingml/2006/main">
              <a:ext uri="{FF2B5EF4-FFF2-40B4-BE49-F238E27FC236}">
                <a16:creationId xmlns:a16="http://schemas.microsoft.com/office/drawing/2014/main" id="{FBCFDF9F-4914-4610-AA05-369B126E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560" y="2710080"/>
            <a:ext cx="28656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Дальнейшее применение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Google Shape;221;p11">
            <a:extLst xmlns:a="http://schemas.openxmlformats.org/drawingml/2006/main">
              <a:ext uri="{FF2B5EF4-FFF2-40B4-BE49-F238E27FC236}">
                <a16:creationId xmlns:a16="http://schemas.microsoft.com/office/drawing/2014/main" id="{02DD9D9E-2986-48A9-B16F-FFAF0E98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560" y="3229920"/>
            <a:ext cx="3065400" cy="99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30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Подход переносится на задачи, где ученику нужно выбрать между симуляцией и анализом.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Google Shape;222;p11">
            <a:extLst xmlns:a="http://schemas.openxmlformats.org/drawingml/2006/main">
              <a:ext uri="{FF2B5EF4-FFF2-40B4-BE49-F238E27FC236}">
                <a16:creationId xmlns:a16="http://schemas.microsoft.com/office/drawing/2014/main" id="{3E28B725-506A-487F-AEC3-ACD6103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29880"/>
            <a:ext cx="10911600" cy="99972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11">
            <a:extLst xmlns:a="http://schemas.openxmlformats.org/drawingml/2006/main">
              <a:ext uri="{FF2B5EF4-FFF2-40B4-BE49-F238E27FC236}">
                <a16:creationId xmlns:a16="http://schemas.microsoft.com/office/drawing/2014/main" id="{3D0E8081-D9DC-43BD-9157-B7D352B1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580000"/>
            <a:ext cx="10399680" cy="34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Резервные решения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Google Shape;224;p11">
            <a:extLst xmlns:a="http://schemas.openxmlformats.org/drawingml/2006/main">
              <a:ext uri="{FF2B5EF4-FFF2-40B4-BE49-F238E27FC236}">
                <a16:creationId xmlns:a16="http://schemas.microsoft.com/office/drawing/2014/main" id="{96AB3C25-7581-454D-B2F0-DBEF3749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5929920"/>
            <a:ext cx="1039968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i="0">
                <a:solidFill>
                  <a:srgbClr val="626268"/>
                </a:solidFill>
                <a:latin typeface="Arial"/>
                <a:ea typeface="Arial"/>
                <a:cs typeface="Arial"/>
              </a:defRPr>
            </a:pPr>
            <a:r>
              <a:rPr sz="1300" b="0" i="0" u="none">
                <a:solidFill>
                  <a:srgbClr val="626268"/>
                </a:solidFill>
                <a:latin typeface="Arial"/>
                <a:ea typeface="Arial"/>
                <a:cs typeface="Arial"/>
              </a:rPr>
              <a:t>Нет сети: автономный файл. Нет компьютеров: таблицы команд и данные попыток. Нет ИИ: объяснение с намеренной ошибкой.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761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4" name="Google Shape;22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2d721cb6ac49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760" cy="7581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0" name="Google Shape;230;p12">
            <a:extLst xmlns:a="http://schemas.openxmlformats.org/drawingml/2006/main">
              <a:ext uri="{FF2B5EF4-FFF2-40B4-BE49-F238E27FC236}">
                <a16:creationId xmlns:a16="http://schemas.microsoft.com/office/drawing/2014/main" id="{79BFC934-10FC-4764-89B9-4A88B487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46520"/>
            <a:ext cx="54792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86052"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44444A"/>
                </a:solidFill>
                <a:latin typeface="Arial"/>
                <a:ea typeface="Arial"/>
                <a:cs typeface="Arial"/>
              </a:defRPr>
            </a:pPr>
            <a:r>
              <a:rPr sz="1400" b="0" u="none">
                <a:solidFill>
                  <a:srgbClr val="44444A"/>
                </a:solidFill>
                <a:latin typeface="Arial"/>
                <a:ea typeface="Arial"/>
                <a:cs typeface="Arial"/>
              </a:rPr>
              <a:t>09</a:t>
            </a:r>
            <a:endParaRPr sz="11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Google Shape;231;p12">
            <a:extLst xmlns:a="http://schemas.openxmlformats.org/drawingml/2006/main">
              <a:ext uri="{FF2B5EF4-FFF2-40B4-BE49-F238E27FC236}">
                <a16:creationId xmlns:a16="http://schemas.microsoft.com/office/drawing/2014/main" id="{57B3A80E-BD3E-4F5A-A950-D4B5E0EC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20" y="2700000"/>
            <a:ext cx="9799560" cy="12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Тренажёр встроен в полный сценарий двух уроков</a:t>
            </a:r>
            <a:endParaRPr sz="3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Google Shape;232;p12">
            <a:extLst xmlns:a="http://schemas.openxmlformats.org/drawingml/2006/main">
              <a:ext uri="{FF2B5EF4-FFF2-40B4-BE49-F238E27FC236}">
                <a16:creationId xmlns:a16="http://schemas.microsoft.com/office/drawing/2014/main" id="{C7D2E0A5-7728-46F8-AC8E-703DC8A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20" y="3949920"/>
            <a:ext cx="9799560" cy="44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B9B9BD"/>
                </a:solidFill>
                <a:latin typeface="Arial"/>
                <a:ea typeface="Arial"/>
                <a:cs typeface="Arial"/>
              </a:defRPr>
            </a:pPr>
            <a:r>
              <a:rPr sz="1800" b="0" u="none">
                <a:solidFill>
                  <a:srgbClr val="B9B9BD"/>
                </a:solidFill>
                <a:latin typeface="Arial"/>
                <a:ea typeface="Arial"/>
                <a:cs typeface="Arial"/>
              </a:rPr>
              <a:t>Готов ответить на вопросы</a:t>
            </a:r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09964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2026-09-15T13:00:42.8290000Z</dcterms:created>
  <dcterms:modified xsi:type="dcterms:W3CDTF">2026-09-15T13:00:42.8290000Z</dcterms:modified>
</coreProperties>
</file>